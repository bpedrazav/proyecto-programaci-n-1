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ourier Prime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37DA78-AFB5-C1D8-0C11-12A9E2CA0405}" v="415" dt="2026-06-28T20:35:45.6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62003" y="-102870"/>
            <a:ext cx="3525998" cy="10389870"/>
            <a:chOff x="0" y="0"/>
            <a:chExt cx="1543416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43416" cy="3790253"/>
            </a:xfrm>
            <a:custGeom>
              <a:avLst/>
              <a:gdLst/>
              <a:ahLst/>
              <a:cxnLst/>
              <a:rect l="l" t="t" r="r" b="b"/>
              <a:pathLst>
                <a:path w="1543416" h="3790253">
                  <a:moveTo>
                    <a:pt x="0" y="0"/>
                  </a:moveTo>
                  <a:lnTo>
                    <a:pt x="1543416" y="0"/>
                  </a:lnTo>
                  <a:lnTo>
                    <a:pt x="1543416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7458581" y="205154"/>
            <a:ext cx="542051" cy="544066"/>
          </a:xfrm>
          <a:custGeom>
            <a:avLst/>
            <a:gdLst/>
            <a:ahLst/>
            <a:cxnLst/>
            <a:rect l="l" t="t" r="r" b="b"/>
            <a:pathLst>
              <a:path w="542051" h="544066">
                <a:moveTo>
                  <a:pt x="0" y="0"/>
                </a:moveTo>
                <a:lnTo>
                  <a:pt x="542050" y="0"/>
                </a:lnTo>
                <a:lnTo>
                  <a:pt x="542050" y="544065"/>
                </a:lnTo>
                <a:lnTo>
                  <a:pt x="0" y="544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78912" y="2676000"/>
            <a:ext cx="7599700" cy="259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2"/>
              </a:lnSpc>
            </a:pPr>
            <a:r>
              <a:rPr lang="en-US" sz="5914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EDITOR DE FONDOS PARA IMÁGENES DIGITALES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94891" y="5359521"/>
            <a:ext cx="8212073" cy="2269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INTEGRANTES:</a:t>
            </a:r>
          </a:p>
          <a:p>
            <a:pPr algn="l">
              <a:lnSpc>
                <a:spcPts val="5880"/>
              </a:lnSpc>
            </a:pPr>
            <a:r>
              <a:rPr lang="en-US" sz="4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Vicente </a:t>
            </a:r>
            <a:r>
              <a:rPr lang="en-US" sz="42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Huilcamán</a:t>
            </a:r>
            <a:endParaRPr lang="en-US" sz="4200" dirty="0">
              <a:solidFill>
                <a:srgbClr val="FF914D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algn="l">
              <a:lnSpc>
                <a:spcPts val="5880"/>
              </a:lnSpc>
            </a:pPr>
            <a:r>
              <a:rPr lang="en-US" sz="42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Benjamín Pedraza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13038" y="1662031"/>
            <a:ext cx="11259224" cy="474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0"/>
              </a:lnSpc>
            </a:pPr>
            <a:r>
              <a:rPr lang="en-US" sz="2736">
                <a:solidFill>
                  <a:srgbClr val="8F8F8F"/>
                </a:solidFill>
                <a:latin typeface="Courier Prime"/>
                <a:ea typeface="Courier Prime"/>
                <a:cs typeface="Courier Prime"/>
                <a:sym typeface="Courier Prime"/>
              </a:rPr>
              <a:t>Fecha = “30 de Junio, 2026”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858062" y="8572500"/>
            <a:ext cx="3333879" cy="793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38"/>
              </a:lnSpc>
            </a:pP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Ing. Civil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Informática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</a:p>
          <a:p>
            <a:pPr algn="ctr">
              <a:lnSpc>
                <a:spcPts val="1938"/>
              </a:lnSpc>
            </a:pP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Programación</a:t>
            </a:r>
            <a:endParaRPr lang="en-US" sz="3200" dirty="0">
              <a:solidFill>
                <a:srgbClr val="FFFFFF"/>
              </a:solidFill>
              <a:latin typeface="Courier Prime"/>
              <a:ea typeface="Courier Prime"/>
              <a:cs typeface="Courier Prim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" y="0"/>
            <a:ext cx="9465207" cy="10287000"/>
            <a:chOff x="0" y="0"/>
            <a:chExt cx="3397983" cy="3790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97983" cy="3790253"/>
            </a:xfrm>
            <a:custGeom>
              <a:avLst/>
              <a:gdLst/>
              <a:ahLst/>
              <a:cxnLst/>
              <a:rect l="l" t="t" r="r" b="b"/>
              <a:pathLst>
                <a:path w="3397983" h="3790253">
                  <a:moveTo>
                    <a:pt x="0" y="0"/>
                  </a:moveTo>
                  <a:lnTo>
                    <a:pt x="3397983" y="0"/>
                  </a:lnTo>
                  <a:lnTo>
                    <a:pt x="3397983" y="3790253"/>
                  </a:lnTo>
                  <a:lnTo>
                    <a:pt x="0" y="379025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33462" y="2374785"/>
            <a:ext cx="7031406" cy="596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Introducción</a:t>
            </a:r>
            <a:endParaRPr lang="en-US" sz="3999" dirty="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33462" y="3134287"/>
            <a:ext cx="7659089" cy="29623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procesamiento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las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imágenes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digitales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cambio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o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aislamiento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las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imágenes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con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su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fondo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puede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ser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todo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un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desafío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,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este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proyecto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presentamos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una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solución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Python que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nos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facilita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identificar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y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reemplazar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los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fondos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sus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respectivas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imágenes</a:t>
            </a:r>
            <a:r>
              <a:rPr lang="en-US" sz="24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76928" y="3134287"/>
            <a:ext cx="7400193" cy="3897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4440"/>
              </a:lnSpc>
              <a:buFont typeface="Arial"/>
              <a:buChar char="•"/>
            </a:pP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Desarrollar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un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sistema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para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cargar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imágenes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digitales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.</a:t>
            </a:r>
          </a:p>
          <a:p>
            <a:pPr marL="518160" lvl="1" indent="-259080" algn="l">
              <a:lnSpc>
                <a:spcPts val="4440"/>
              </a:lnSpc>
              <a:buFont typeface="Arial"/>
              <a:buChar char="•"/>
            </a:pP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Procesar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estas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imágenes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y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poder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editarlas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por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medio de matrices.</a:t>
            </a:r>
          </a:p>
          <a:p>
            <a:pPr marL="518160" lvl="1" indent="-259080" algn="l">
              <a:lnSpc>
                <a:spcPts val="4440"/>
              </a:lnSpc>
              <a:buFont typeface="Arial"/>
              <a:buChar char="•"/>
            </a:pP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Generar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una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interfaz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gráfica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interactiva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para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poder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manipular las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imágenes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a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conveniencia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45715" y="2388108"/>
            <a:ext cx="7031406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OBJETIVOS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7468106" y="195629"/>
            <a:ext cx="542051" cy="544066"/>
          </a:xfrm>
          <a:custGeom>
            <a:avLst/>
            <a:gdLst/>
            <a:ahLst/>
            <a:cxnLst/>
            <a:rect l="l" t="t" r="r" b="b"/>
            <a:pathLst>
              <a:path w="542051" h="544066">
                <a:moveTo>
                  <a:pt x="0" y="0"/>
                </a:moveTo>
                <a:lnTo>
                  <a:pt x="542050" y="0"/>
                </a:lnTo>
                <a:lnTo>
                  <a:pt x="542050" y="544065"/>
                </a:lnTo>
                <a:lnTo>
                  <a:pt x="0" y="544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44856" y="1047750"/>
            <a:ext cx="7031406" cy="596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Estrategia</a:t>
            </a:r>
            <a:r>
              <a:rPr lang="en-US" sz="3999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999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utilizada</a:t>
            </a:r>
            <a:endParaRPr lang="en-US" sz="3999" dirty="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2006060"/>
            <a:ext cx="8079851" cy="635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5"/>
              </a:lnSpc>
              <a:spcBef>
                <a:spcPct val="0"/>
              </a:spcBef>
            </a:pPr>
            <a:r>
              <a:rPr lang="en-US" sz="2189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La </a:t>
            </a:r>
            <a:r>
              <a:rPr lang="en-US" sz="2189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estrategia</a:t>
            </a:r>
            <a:r>
              <a:rPr lang="en-US" sz="2189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que </a:t>
            </a:r>
            <a:r>
              <a:rPr lang="en-US" sz="2189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utilizamos</a:t>
            </a:r>
            <a:r>
              <a:rPr lang="en-US" sz="2189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para </a:t>
            </a:r>
            <a:r>
              <a:rPr lang="en-US" sz="2189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este</a:t>
            </a:r>
            <a:r>
              <a:rPr lang="en-US" sz="2189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89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programa</a:t>
            </a:r>
            <a:r>
              <a:rPr lang="en-US" sz="2189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se </a:t>
            </a:r>
            <a:r>
              <a:rPr lang="en-US" sz="2189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puede</a:t>
            </a:r>
            <a:r>
              <a:rPr lang="en-US" sz="2189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89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dividir</a:t>
            </a:r>
            <a:r>
              <a:rPr lang="en-US" sz="2189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89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en</a:t>
            </a:r>
            <a:r>
              <a:rPr lang="en-US" sz="2189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3 </a:t>
            </a:r>
            <a:r>
              <a:rPr lang="en-US" sz="2189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secciones</a:t>
            </a:r>
            <a:r>
              <a:rPr lang="en-US" sz="2189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89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distintas</a:t>
            </a:r>
            <a:r>
              <a:rPr lang="en-US" sz="2189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113131"/>
            <a:ext cx="1520190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3400" lvl="1" indent="-226700" algn="just">
              <a:lnSpc>
                <a:spcPts val="2394"/>
              </a:lnSpc>
              <a:buAutoNum type="arabicPeriod"/>
            </a:pPr>
            <a:r>
              <a:rPr lang="en-US" sz="3200" b="1" u="sng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Detección</a:t>
            </a:r>
            <a:r>
              <a:rPr lang="en-US" sz="3200" b="1" u="sng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b="1" u="sng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automática</a:t>
            </a:r>
            <a:r>
              <a:rPr lang="en-US" sz="3200" b="1" u="sng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del </a:t>
            </a:r>
            <a:r>
              <a:rPr lang="en-US" sz="3200" b="1" u="sng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fondo</a:t>
            </a:r>
            <a:r>
              <a:rPr lang="en-US" sz="3200" b="1" u="sng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:</a:t>
            </a:r>
          </a:p>
          <a:p>
            <a:pPr algn="just">
              <a:spcBef>
                <a:spcPct val="0"/>
              </a:spcBef>
            </a:pP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Promediamos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color de las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esquinas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y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esto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supondría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que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objeto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está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centro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899250"/>
            <a:ext cx="15430500" cy="2277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6695" lvl="1" algn="l">
              <a:lnSpc>
                <a:spcPts val="2394"/>
              </a:lnSpc>
            </a:pPr>
            <a:r>
              <a:rPr lang="en-US" sz="3200" b="1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2.</a:t>
            </a:r>
            <a:r>
              <a:rPr lang="en-US" sz="3200" b="1" u="sng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Segmentación </a:t>
            </a:r>
            <a:r>
              <a:rPr lang="en-US" sz="3200" b="1" u="sng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según</a:t>
            </a:r>
            <a:r>
              <a:rPr lang="en-US" sz="3200" b="1" u="sng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b="1" u="sng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tolerancia</a:t>
            </a:r>
            <a:r>
              <a:rPr lang="en-US" sz="3200" b="1" u="sng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:</a:t>
            </a:r>
          </a:p>
          <a:p>
            <a:pPr algn="l"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Se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calcula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“la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distancia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” entre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color de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cada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pixel y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color de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fondo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calculado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,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si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la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diferencia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es &lt; 60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programa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identifica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ese pixel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como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fondo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y lo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reemplaza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por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nuevo,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si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la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diferencia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es mayor lo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toma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como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objeto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y lo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deja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intacto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7660731"/>
            <a:ext cx="14820900" cy="17851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26700" lvl="1" algn="l">
              <a:lnSpc>
                <a:spcPts val="2394"/>
              </a:lnSpc>
            </a:pP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3.</a:t>
            </a:r>
            <a:r>
              <a:rPr lang="en-US" sz="3200" u="sng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Interfaz </a:t>
            </a:r>
            <a:r>
              <a:rPr lang="en-US" sz="3200" u="sng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gáfica</a:t>
            </a:r>
            <a:r>
              <a:rPr lang="en-US" sz="3200" u="sng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u="sng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intercativa</a:t>
            </a:r>
            <a:r>
              <a:rPr lang="en-US" sz="3200" u="sng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:</a:t>
            </a:r>
          </a:p>
          <a:p>
            <a:pPr algn="l"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Mediante Matplotlib y sus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funciones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,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podemos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interactuar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con la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edición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imágenes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mediante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botones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interactivos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y </a:t>
            </a:r>
            <a:r>
              <a:rPr lang="en-US" sz="32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funcionales</a:t>
            </a:r>
            <a:r>
              <a:rPr lang="en-US" sz="32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6">
            <a:extLst>
              <a:ext uri="{FF2B5EF4-FFF2-40B4-BE49-F238E27FC236}">
                <a16:creationId xmlns:a16="http://schemas.microsoft.com/office/drawing/2014/main" id="{AA37BDCE-6698-B8DB-6806-BBA695891815}"/>
              </a:ext>
            </a:extLst>
          </p:cNvPr>
          <p:cNvGrpSpPr/>
          <p:nvPr/>
        </p:nvGrpSpPr>
        <p:grpSpPr>
          <a:xfrm>
            <a:off x="1695653" y="2715796"/>
            <a:ext cx="7076986" cy="3154593"/>
            <a:chOff x="0" y="0"/>
            <a:chExt cx="3518720" cy="947770"/>
          </a:xfrm>
        </p:grpSpPr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CD55B02E-D290-F55E-6AF1-BE7F2C013EF5}"/>
                </a:ext>
              </a:extLst>
            </p:cNvPr>
            <p:cNvSpPr/>
            <p:nvPr/>
          </p:nvSpPr>
          <p:spPr>
            <a:xfrm>
              <a:off x="0" y="0"/>
              <a:ext cx="3518720" cy="947770"/>
            </a:xfrm>
            <a:custGeom>
              <a:avLst/>
              <a:gdLst/>
              <a:ahLst/>
              <a:cxnLst/>
              <a:rect l="l" t="t" r="r" b="b"/>
              <a:pathLst>
                <a:path w="3518720" h="947770">
                  <a:moveTo>
                    <a:pt x="0" y="0"/>
                  </a:moveTo>
                  <a:lnTo>
                    <a:pt x="3518720" y="0"/>
                  </a:lnTo>
                  <a:lnTo>
                    <a:pt x="3518720" y="947770"/>
                  </a:lnTo>
                  <a:lnTo>
                    <a:pt x="0" y="94777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id="27" name="AutoShape 8">
            <a:extLst>
              <a:ext uri="{FF2B5EF4-FFF2-40B4-BE49-F238E27FC236}">
                <a16:creationId xmlns:a16="http://schemas.microsoft.com/office/drawing/2014/main" id="{2990DD9A-C500-D2B4-B4E9-33F78D9AF66C}"/>
              </a:ext>
            </a:extLst>
          </p:cNvPr>
          <p:cNvSpPr/>
          <p:nvPr/>
        </p:nvSpPr>
        <p:spPr>
          <a:xfrm>
            <a:off x="1693018" y="2715795"/>
            <a:ext cx="16287" cy="3154594"/>
          </a:xfrm>
          <a:prstGeom prst="line">
            <a:avLst/>
          </a:prstGeom>
          <a:ln w="762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219200" y="1138930"/>
            <a:ext cx="7031406" cy="1186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Funciones</a:t>
            </a:r>
            <a:r>
              <a:rPr lang="en-US" sz="3999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999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Principales</a:t>
            </a:r>
            <a:r>
              <a:rPr lang="en-US" sz="3999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3999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utilizadas</a:t>
            </a:r>
            <a:endParaRPr lang="en-US" sz="3999" dirty="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788860" y="6680028"/>
            <a:ext cx="7076986" cy="3154593"/>
            <a:chOff x="0" y="0"/>
            <a:chExt cx="3518720" cy="9477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18720" cy="947770"/>
            </a:xfrm>
            <a:custGeom>
              <a:avLst/>
              <a:gdLst/>
              <a:ahLst/>
              <a:cxnLst/>
              <a:rect l="l" t="t" r="r" b="b"/>
              <a:pathLst>
                <a:path w="3518720" h="947770">
                  <a:moveTo>
                    <a:pt x="0" y="0"/>
                  </a:moveTo>
                  <a:lnTo>
                    <a:pt x="3518720" y="0"/>
                  </a:lnTo>
                  <a:lnTo>
                    <a:pt x="3518720" y="947770"/>
                  </a:lnTo>
                  <a:lnTo>
                    <a:pt x="0" y="94777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id="8" name="AutoShape 8"/>
          <p:cNvSpPr/>
          <p:nvPr/>
        </p:nvSpPr>
        <p:spPr>
          <a:xfrm>
            <a:off x="1786225" y="6680027"/>
            <a:ext cx="16287" cy="3154594"/>
          </a:xfrm>
          <a:prstGeom prst="line">
            <a:avLst/>
          </a:prstGeom>
          <a:ln w="762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670131" y="6680027"/>
            <a:ext cx="6405196" cy="3154594"/>
            <a:chOff x="0" y="0"/>
            <a:chExt cx="3518720" cy="9477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18720" cy="947770"/>
            </a:xfrm>
            <a:custGeom>
              <a:avLst/>
              <a:gdLst/>
              <a:ahLst/>
              <a:cxnLst/>
              <a:rect l="l" t="t" r="r" b="b"/>
              <a:pathLst>
                <a:path w="3518720" h="947770">
                  <a:moveTo>
                    <a:pt x="0" y="0"/>
                  </a:moveTo>
                  <a:lnTo>
                    <a:pt x="3518720" y="0"/>
                  </a:lnTo>
                  <a:lnTo>
                    <a:pt x="3518720" y="947770"/>
                  </a:lnTo>
                  <a:lnTo>
                    <a:pt x="0" y="947770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grpSp>
        <p:nvGrpSpPr>
          <p:cNvPr id="12" name="Group 12"/>
          <p:cNvGrpSpPr/>
          <p:nvPr/>
        </p:nvGrpSpPr>
        <p:grpSpPr>
          <a:xfrm rot="5400000">
            <a:off x="12201676" y="1184250"/>
            <a:ext cx="3342105" cy="6405196"/>
            <a:chOff x="0" y="0"/>
            <a:chExt cx="2643839" cy="38990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43839" cy="3899003"/>
            </a:xfrm>
            <a:custGeom>
              <a:avLst/>
              <a:gdLst/>
              <a:ahLst/>
              <a:cxnLst/>
              <a:rect l="l" t="t" r="r" b="b"/>
              <a:pathLst>
                <a:path w="2643839" h="3899003">
                  <a:moveTo>
                    <a:pt x="0" y="0"/>
                  </a:moveTo>
                  <a:lnTo>
                    <a:pt x="2643839" y="0"/>
                  </a:lnTo>
                  <a:lnTo>
                    <a:pt x="2643839" y="3899003"/>
                  </a:lnTo>
                  <a:lnTo>
                    <a:pt x="0" y="3899003"/>
                  </a:lnTo>
                  <a:close/>
                </a:path>
              </a:pathLst>
            </a:custGeom>
            <a:solidFill>
              <a:srgbClr val="2D2D35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17449056" y="205154"/>
            <a:ext cx="542051" cy="544066"/>
          </a:xfrm>
          <a:custGeom>
            <a:avLst/>
            <a:gdLst/>
            <a:ahLst/>
            <a:cxnLst/>
            <a:rect l="l" t="t" r="r" b="b"/>
            <a:pathLst>
              <a:path w="542051" h="544066">
                <a:moveTo>
                  <a:pt x="0" y="0"/>
                </a:moveTo>
                <a:lnTo>
                  <a:pt x="542050" y="0"/>
                </a:lnTo>
                <a:lnTo>
                  <a:pt x="542050" y="544065"/>
                </a:lnTo>
                <a:lnTo>
                  <a:pt x="0" y="544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254547" y="3038915"/>
            <a:ext cx="5901035" cy="46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4"/>
              </a:lnSpc>
              <a:spcBef>
                <a:spcPct val="0"/>
              </a:spcBef>
            </a:pPr>
            <a:r>
              <a:rPr lang="en-US" sz="3100">
                <a:solidFill>
                  <a:srgbClr val="FD9E80"/>
                </a:solidFill>
                <a:latin typeface="Courier Prime"/>
                <a:ea typeface="Courier Prime"/>
                <a:cs typeface="Courier Prime"/>
                <a:sym typeface="Courier Prime"/>
              </a:rPr>
              <a:t>def imageness/def fondos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02896" y="3750238"/>
            <a:ext cx="5806826" cy="15427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Ambas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funciones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están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diseñadas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para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buscar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directorio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cada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PC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carpetas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con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mínimo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imágenes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requeridas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para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continuar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con la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correcta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ejecución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del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programa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86481" y="6863479"/>
            <a:ext cx="4484787" cy="46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4"/>
              </a:lnSpc>
              <a:spcBef>
                <a:spcPct val="0"/>
              </a:spcBef>
            </a:pPr>
            <a:r>
              <a:rPr lang="en-US" sz="3100" dirty="0">
                <a:solidFill>
                  <a:srgbClr val="FD9E80"/>
                </a:solidFill>
                <a:latin typeface="Courier Prime"/>
                <a:ea typeface="Courier Prime"/>
                <a:cs typeface="Courier Prime"/>
                <a:sym typeface="Courier Prime"/>
              </a:rPr>
              <a:t>def </a:t>
            </a:r>
            <a:r>
              <a:rPr lang="en-US" sz="3100" dirty="0" err="1">
                <a:solidFill>
                  <a:srgbClr val="FD9E80"/>
                </a:solidFill>
                <a:latin typeface="Courier Prime"/>
                <a:ea typeface="Courier Prime"/>
                <a:cs typeface="Courier Prime"/>
                <a:sym typeface="Courier Prime"/>
              </a:rPr>
              <a:t>generar_reporte</a:t>
            </a:r>
            <a:endParaRPr lang="en-US" sz="3100" dirty="0">
              <a:solidFill>
                <a:srgbClr val="FD9E80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512315" y="2956921"/>
            <a:ext cx="4720828" cy="46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4"/>
              </a:lnSpc>
              <a:spcBef>
                <a:spcPct val="0"/>
              </a:spcBef>
            </a:pPr>
            <a:r>
              <a:rPr lang="en-US" sz="3100">
                <a:solidFill>
                  <a:srgbClr val="FD9E80"/>
                </a:solidFill>
                <a:latin typeface="Courier Prime"/>
                <a:ea typeface="Courier Prime"/>
                <a:cs typeface="Courier Prime"/>
                <a:sym typeface="Courier Prime"/>
              </a:rPr>
              <a:t>def reemplazar_fondo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95211" y="7904004"/>
            <a:ext cx="6467328" cy="1234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función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específico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sirve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para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generar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un archive .txt que le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muestra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al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usuario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la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cantidad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pixeles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del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objeto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y las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coordenadas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estos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79477" y="6859247"/>
            <a:ext cx="4248745" cy="461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4"/>
              </a:lnSpc>
              <a:spcBef>
                <a:spcPct val="0"/>
              </a:spcBef>
            </a:pPr>
            <a:r>
              <a:rPr lang="en-US" sz="3100" dirty="0">
                <a:solidFill>
                  <a:srgbClr val="FD9E80"/>
                </a:solidFill>
                <a:latin typeface="Courier Prime"/>
                <a:ea typeface="Courier Prime"/>
                <a:cs typeface="Courier Prime"/>
                <a:sym typeface="Courier Prime"/>
              </a:rPr>
              <a:t>def </a:t>
            </a:r>
            <a:r>
              <a:rPr lang="en-US" sz="3100" dirty="0" err="1">
                <a:solidFill>
                  <a:srgbClr val="FD9E80"/>
                </a:solidFill>
                <a:latin typeface="Courier Prime"/>
                <a:ea typeface="Courier Prime"/>
                <a:cs typeface="Courier Prime"/>
                <a:sym typeface="Courier Prime"/>
              </a:rPr>
              <a:t>guardar_imagen</a:t>
            </a:r>
            <a:endParaRPr lang="en-US" sz="3100" dirty="0">
              <a:solidFill>
                <a:srgbClr val="FD9E80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862827" y="7750116"/>
            <a:ext cx="6019801" cy="1850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4"/>
              </a:lnSpc>
              <a:spcBef>
                <a:spcPct val="0"/>
              </a:spcBef>
            </a:pP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Guarda la imagen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editada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por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usuario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PC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un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archivo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real,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programa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la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detecta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una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matriz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y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transforma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esos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números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para que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PC lo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entienda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una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imagen real.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112089" y="3862174"/>
            <a:ext cx="5480258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7"/>
              </a:lnSpc>
              <a:spcBef>
                <a:spcPct val="0"/>
              </a:spcBef>
            </a:pP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Toma la imagen original, la re-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dimensiona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, luego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detecta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color de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su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fondo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y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este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lo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reemplaza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por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uno de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los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fondos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para </a:t>
            </a:r>
            <a:r>
              <a:rPr lang="en-US" sz="2100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elegir</a:t>
            </a:r>
            <a:r>
              <a:rPr lang="en-US" sz="2100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.</a:t>
            </a:r>
          </a:p>
        </p:txBody>
      </p:sp>
      <p:sp>
        <p:nvSpPr>
          <p:cNvPr id="24" name="AutoShape 11">
            <a:extLst>
              <a:ext uri="{FF2B5EF4-FFF2-40B4-BE49-F238E27FC236}">
                <a16:creationId xmlns:a16="http://schemas.microsoft.com/office/drawing/2014/main" id="{75C023F1-7F57-AA32-829F-CC9110D774DA}"/>
              </a:ext>
            </a:extLst>
          </p:cNvPr>
          <p:cNvSpPr/>
          <p:nvPr/>
        </p:nvSpPr>
        <p:spPr>
          <a:xfrm>
            <a:off x="10665367" y="6680027"/>
            <a:ext cx="2129" cy="3154594"/>
          </a:xfrm>
          <a:prstGeom prst="line">
            <a:avLst/>
          </a:prstGeom>
          <a:ln w="762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0665367" y="2731303"/>
            <a:ext cx="14155" cy="3342106"/>
          </a:xfrm>
          <a:prstGeom prst="line">
            <a:avLst/>
          </a:prstGeom>
          <a:ln w="76200" cap="flat">
            <a:solidFill>
              <a:srgbClr val="737373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3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47750"/>
            <a:ext cx="7031406" cy="596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999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Manejo</a:t>
            </a:r>
            <a:r>
              <a:rPr lang="en-US" sz="3999" dirty="0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</a:t>
            </a:r>
            <a:r>
              <a:rPr lang="en-US" sz="3999" dirty="0" err="1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errores</a:t>
            </a:r>
            <a:endParaRPr lang="en-US" sz="3999" dirty="0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06181" y="1897421"/>
            <a:ext cx="8603190" cy="1286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08"/>
              </a:lnSpc>
              <a:spcBef>
                <a:spcPct val="0"/>
              </a:spcBef>
            </a:pP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Mediante las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funciones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nativas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Python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como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 “Try” y “except”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pudimos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evitar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errores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que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finalizarían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con el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funcionamiento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nuestro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programa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,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como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por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-US" sz="2400" dirty="0" err="1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ejemplo</a:t>
            </a:r>
            <a:r>
              <a:rPr lang="en-US" sz="2400" dirty="0">
                <a:solidFill>
                  <a:srgbClr val="FF914D"/>
                </a:solidFill>
                <a:latin typeface="Courier Prime"/>
                <a:ea typeface="Courier Prime"/>
                <a:cs typeface="Courier Prime"/>
                <a:sym typeface="Courier Prime"/>
              </a:rPr>
              <a:t>:</a:t>
            </a:r>
            <a:endParaRPr lang="en-US" sz="2400" dirty="0">
              <a:solidFill>
                <a:srgbClr val="FF914D"/>
              </a:solidFill>
              <a:latin typeface="Courier Prime"/>
              <a:ea typeface="Courier Prime"/>
              <a:cs typeface="Courier Prime"/>
            </a:endParaRP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DAA04EB0-27EE-93CA-91E8-089F02F51E7F}"/>
              </a:ext>
            </a:extLst>
          </p:cNvPr>
          <p:cNvSpPr/>
          <p:nvPr/>
        </p:nvSpPr>
        <p:spPr>
          <a:xfrm>
            <a:off x="9145361" y="5029880"/>
            <a:ext cx="3071812" cy="228600"/>
          </a:xfrm>
          <a:prstGeom prst="rightArrow">
            <a:avLst/>
          </a:prstGeom>
          <a:solidFill>
            <a:srgbClr val="ED7D3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294B6D8C-ABED-16C0-E39B-A5ACB56BE0DF}"/>
              </a:ext>
            </a:extLst>
          </p:cNvPr>
          <p:cNvSpPr/>
          <p:nvPr/>
        </p:nvSpPr>
        <p:spPr>
          <a:xfrm>
            <a:off x="9145361" y="8219394"/>
            <a:ext cx="3071812" cy="228600"/>
          </a:xfrm>
          <a:prstGeom prst="rightArrow">
            <a:avLst/>
          </a:prstGeom>
          <a:solidFill>
            <a:srgbClr val="ED7D3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A2EAC7E-F77D-A58A-56B4-7B84071CE6C4}"/>
              </a:ext>
            </a:extLst>
          </p:cNvPr>
          <p:cNvSpPr txBox="1"/>
          <p:nvPr/>
        </p:nvSpPr>
        <p:spPr>
          <a:xfrm>
            <a:off x="12962163" y="4813526"/>
            <a:ext cx="4371975" cy="64633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>
                <a:solidFill>
                  <a:schemeClr val="accent6">
                    <a:lumMod val="49000"/>
                  </a:schemeClr>
                </a:solidFill>
                <a:ea typeface="Calibri"/>
                <a:cs typeface="Calibri"/>
              </a:rPr>
              <a:t>POR SI EL USUARIO PASA A PONER LETRAS EN VEZ DE UN NÚMERO.</a:t>
            </a:r>
          </a:p>
        </p:txBody>
      </p:sp>
      <p:pic>
        <p:nvPicPr>
          <p:cNvPr id="13" name="Imagen 12" descr="Texto&#10;&#10;El contenido generado por IA puede ser incorrecto.">
            <a:extLst>
              <a:ext uri="{FF2B5EF4-FFF2-40B4-BE49-F238E27FC236}">
                <a16:creationId xmlns:a16="http://schemas.microsoft.com/office/drawing/2014/main" id="{0D6DAF77-08F6-A983-6CC7-549AA36A8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92" y="3938588"/>
            <a:ext cx="8296275" cy="2409825"/>
          </a:xfrm>
          <a:prstGeom prst="rect">
            <a:avLst/>
          </a:prstGeom>
        </p:spPr>
      </p:pic>
      <p:pic>
        <p:nvPicPr>
          <p:cNvPr id="14" name="Imagen 13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BBE06D3F-8549-BDEF-A43C-0B564A1E5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854" y="7758113"/>
            <a:ext cx="8286750" cy="1160689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EA5D6146-7607-78D9-EDC6-B52379FAED59}"/>
              </a:ext>
            </a:extLst>
          </p:cNvPr>
          <p:cNvSpPr txBox="1"/>
          <p:nvPr/>
        </p:nvSpPr>
        <p:spPr>
          <a:xfrm>
            <a:off x="12962163" y="8003040"/>
            <a:ext cx="4371975" cy="9233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dirty="0">
                <a:solidFill>
                  <a:schemeClr val="accent6">
                    <a:lumMod val="49000"/>
                  </a:schemeClr>
                </a:solidFill>
                <a:ea typeface="Calibri"/>
                <a:cs typeface="Calibri"/>
              </a:rPr>
              <a:t>ES POR SI LA MATRIZ DE LA IMAGEN VINO VACÍA PARA QUE NO FALLE AL INTENTAR </a:t>
            </a:r>
            <a:r>
              <a:rPr lang="es-ES">
                <a:solidFill>
                  <a:schemeClr val="accent6">
                    <a:lumMod val="49000"/>
                  </a:schemeClr>
                </a:solidFill>
                <a:ea typeface="Calibri"/>
                <a:cs typeface="Calibri"/>
              </a:rPr>
              <a:t>CONVERTIRLA</a:t>
            </a:r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431</Words>
  <Application>Microsoft Office PowerPoint</Application>
  <PresentationFormat>Personalizado</PresentationFormat>
  <Paragraphs>34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Courier Prime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Técnica {</dc:title>
  <cp:lastModifiedBy>Victails ㅤ</cp:lastModifiedBy>
  <cp:revision>62</cp:revision>
  <dcterms:created xsi:type="dcterms:W3CDTF">2006-08-16T00:00:00Z</dcterms:created>
  <dcterms:modified xsi:type="dcterms:W3CDTF">2026-06-28T22:02:44Z</dcterms:modified>
  <dc:identifier>DAHNtIySKu4</dc:identifier>
</cp:coreProperties>
</file>