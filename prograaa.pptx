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Courier Prime" charset="1" panose="00000509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14762002" y="-102870"/>
            <a:ext cx="4230823" cy="10389870"/>
            <a:chOff x="0" y="0"/>
            <a:chExt cx="1543416" cy="3790253"/>
          </a:xfrm>
        </p:grpSpPr>
        <p:sp>
          <p:nvSpPr>
            <p:cNvPr name="Freeform 3" id="3"/>
            <p:cNvSpPr/>
            <p:nvPr/>
          </p:nvSpPr>
          <p:spPr>
            <a:xfrm flipH="false" flipV="false" rot="0">
              <a:off x="0" y="0"/>
              <a:ext cx="1543416" cy="3790253"/>
            </a:xfrm>
            <a:custGeom>
              <a:avLst/>
              <a:gdLst/>
              <a:ahLst/>
              <a:cxnLst/>
              <a:rect r="r" b="b" t="t" l="l"/>
              <a:pathLst>
                <a:path h="3790253" w="1543416">
                  <a:moveTo>
                    <a:pt x="0" y="0"/>
                  </a:moveTo>
                  <a:lnTo>
                    <a:pt x="1543416" y="0"/>
                  </a:lnTo>
                  <a:lnTo>
                    <a:pt x="1543416" y="3790253"/>
                  </a:lnTo>
                  <a:lnTo>
                    <a:pt x="0" y="3790253"/>
                  </a:lnTo>
                  <a:close/>
                </a:path>
              </a:pathLst>
            </a:custGeom>
            <a:solidFill>
              <a:srgbClr val="2D2D35"/>
            </a:solidFill>
          </p:spPr>
        </p:sp>
      </p:grpSp>
      <p:sp>
        <p:nvSpPr>
          <p:cNvPr name="AutoShape 4" id="4"/>
          <p:cNvSpPr/>
          <p:nvPr/>
        </p:nvSpPr>
        <p:spPr>
          <a:xfrm rot="0">
            <a:off x="14666595" y="9210675"/>
            <a:ext cx="1539000" cy="0"/>
          </a:xfrm>
          <a:prstGeom prst="line">
            <a:avLst/>
          </a:prstGeom>
          <a:ln cap="flat" w="47625">
            <a:solidFill>
              <a:srgbClr val="FFFFFF"/>
            </a:solidFill>
            <a:prstDash val="solid"/>
            <a:headEnd type="diamond" len="lg" w="lg"/>
            <a:tailEnd type="arrow" len="sm" w="med"/>
          </a:ln>
        </p:spPr>
      </p:sp>
      <p:sp>
        <p:nvSpPr>
          <p:cNvPr name="Freeform 5" id="5"/>
          <p:cNvSpPr/>
          <p:nvPr/>
        </p:nvSpPr>
        <p:spPr>
          <a:xfrm flipH="false" flipV="false" rot="0">
            <a:off x="17458581" y="205154"/>
            <a:ext cx="542051" cy="544066"/>
          </a:xfrm>
          <a:custGeom>
            <a:avLst/>
            <a:gdLst/>
            <a:ahLst/>
            <a:cxnLst/>
            <a:rect r="r" b="b" t="t" l="l"/>
            <a:pathLst>
              <a:path h="544066" w="542051">
                <a:moveTo>
                  <a:pt x="0" y="0"/>
                </a:moveTo>
                <a:lnTo>
                  <a:pt x="542050" y="0"/>
                </a:lnTo>
                <a:lnTo>
                  <a:pt x="542050" y="544065"/>
                </a:lnTo>
                <a:lnTo>
                  <a:pt x="0" y="544065"/>
                </a:lnTo>
                <a:lnTo>
                  <a:pt x="0" y="0"/>
                </a:lnTo>
                <a:close/>
              </a:path>
            </a:pathLst>
          </a:custGeom>
          <a:blipFill>
            <a:blip r:embed="rId2"/>
            <a:stretch>
              <a:fillRect l="0" t="0" r="0" b="0"/>
            </a:stretch>
          </a:blipFill>
        </p:spPr>
      </p:sp>
      <p:sp>
        <p:nvSpPr>
          <p:cNvPr name="TextBox 6" id="6"/>
          <p:cNvSpPr txBox="true"/>
          <p:nvPr/>
        </p:nvSpPr>
        <p:spPr>
          <a:xfrm rot="0">
            <a:off x="2278912" y="2676000"/>
            <a:ext cx="7599700" cy="2559669"/>
          </a:xfrm>
          <a:prstGeom prst="rect">
            <a:avLst/>
          </a:prstGeom>
        </p:spPr>
        <p:txBody>
          <a:bodyPr anchor="t" rtlCol="false" tIns="0" lIns="0" bIns="0" rIns="0">
            <a:spAutoFit/>
          </a:bodyPr>
          <a:lstStyle/>
          <a:p>
            <a:pPr algn="l">
              <a:lnSpc>
                <a:spcPts val="6742"/>
              </a:lnSpc>
            </a:pPr>
            <a:r>
              <a:rPr lang="en-US" sz="5914">
                <a:solidFill>
                  <a:srgbClr val="FFFFFF"/>
                </a:solidFill>
                <a:latin typeface="Courier Prime"/>
                <a:ea typeface="Courier Prime"/>
                <a:cs typeface="Courier Prime"/>
                <a:sym typeface="Courier Prime"/>
              </a:rPr>
              <a:t>EDITOR DE FONDOS PARA IMÁGENES DIGITALES{</a:t>
            </a:r>
          </a:p>
        </p:txBody>
      </p:sp>
      <p:sp>
        <p:nvSpPr>
          <p:cNvPr name="TextBox 7" id="7"/>
          <p:cNvSpPr txBox="true"/>
          <p:nvPr/>
        </p:nvSpPr>
        <p:spPr>
          <a:xfrm rot="0">
            <a:off x="2220535" y="7017818"/>
            <a:ext cx="2373735" cy="1146184"/>
          </a:xfrm>
          <a:prstGeom prst="rect">
            <a:avLst/>
          </a:prstGeom>
        </p:spPr>
        <p:txBody>
          <a:bodyPr anchor="t" rtlCol="false" tIns="0" lIns="0" bIns="0" rIns="0">
            <a:spAutoFit/>
          </a:bodyPr>
          <a:lstStyle/>
          <a:p>
            <a:pPr algn="l">
              <a:lnSpc>
                <a:spcPts val="8866"/>
              </a:lnSpc>
            </a:pPr>
            <a:r>
              <a:rPr lang="en-US" sz="7777">
                <a:solidFill>
                  <a:srgbClr val="FFFFFF"/>
                </a:solidFill>
                <a:latin typeface="Courier Prime"/>
                <a:ea typeface="Courier Prime"/>
                <a:cs typeface="Courier Prime"/>
                <a:sym typeface="Courier Prime"/>
              </a:rPr>
              <a:t>}</a:t>
            </a:r>
          </a:p>
        </p:txBody>
      </p:sp>
      <p:sp>
        <p:nvSpPr>
          <p:cNvPr name="TextBox 8" id="8"/>
          <p:cNvSpPr txBox="true"/>
          <p:nvPr/>
        </p:nvSpPr>
        <p:spPr>
          <a:xfrm rot="0">
            <a:off x="2194891" y="5359521"/>
            <a:ext cx="8212073" cy="1464945"/>
          </a:xfrm>
          <a:prstGeom prst="rect">
            <a:avLst/>
          </a:prstGeom>
        </p:spPr>
        <p:txBody>
          <a:bodyPr anchor="t" rtlCol="false" tIns="0" lIns="0" bIns="0" rIns="0">
            <a:spAutoFit/>
          </a:bodyPr>
          <a:lstStyle/>
          <a:p>
            <a:pPr algn="l">
              <a:lnSpc>
                <a:spcPts val="5880"/>
              </a:lnSpc>
            </a:pPr>
            <a:r>
              <a:rPr lang="en-US" sz="4200">
                <a:solidFill>
                  <a:srgbClr val="FF914D"/>
                </a:solidFill>
                <a:latin typeface="Courier Prime"/>
                <a:ea typeface="Courier Prime"/>
                <a:cs typeface="Courier Prime"/>
                <a:sym typeface="Courier Prime"/>
              </a:rPr>
              <a:t>&lt;Por="Vicente Huilcamán",</a:t>
            </a:r>
          </a:p>
          <a:p>
            <a:pPr algn="l">
              <a:lnSpc>
                <a:spcPts val="5880"/>
              </a:lnSpc>
            </a:pPr>
            <a:r>
              <a:rPr lang="en-US" sz="4200">
                <a:solidFill>
                  <a:srgbClr val="FF914D"/>
                </a:solidFill>
                <a:latin typeface="Courier Prime"/>
                <a:ea typeface="Courier Prime"/>
                <a:cs typeface="Courier Prime"/>
                <a:sym typeface="Courier Prime"/>
              </a:rPr>
              <a:t>”Benjamín Pedraza/&gt;</a:t>
            </a:r>
          </a:p>
        </p:txBody>
      </p:sp>
      <p:sp>
        <p:nvSpPr>
          <p:cNvPr name="TextBox 9" id="9"/>
          <p:cNvSpPr txBox="true"/>
          <p:nvPr/>
        </p:nvSpPr>
        <p:spPr>
          <a:xfrm rot="0">
            <a:off x="2113038" y="1662031"/>
            <a:ext cx="11259224" cy="474154"/>
          </a:xfrm>
          <a:prstGeom prst="rect">
            <a:avLst/>
          </a:prstGeom>
        </p:spPr>
        <p:txBody>
          <a:bodyPr anchor="t" rtlCol="false" tIns="0" lIns="0" bIns="0" rIns="0">
            <a:spAutoFit/>
          </a:bodyPr>
          <a:lstStyle/>
          <a:p>
            <a:pPr algn="l">
              <a:lnSpc>
                <a:spcPts val="3830"/>
              </a:lnSpc>
            </a:pPr>
            <a:r>
              <a:rPr lang="en-US" sz="2736">
                <a:solidFill>
                  <a:srgbClr val="8F8F8F"/>
                </a:solidFill>
                <a:latin typeface="Courier Prime"/>
                <a:ea typeface="Courier Prime"/>
                <a:cs typeface="Courier Prime"/>
                <a:sym typeface="Courier Prime"/>
              </a:rPr>
              <a:t>Fecha = “30 de Junio, 2026”</a:t>
            </a:r>
          </a:p>
        </p:txBody>
      </p:sp>
      <p:sp>
        <p:nvSpPr>
          <p:cNvPr name="TextBox 10" id="10"/>
          <p:cNvSpPr txBox="true"/>
          <p:nvPr/>
        </p:nvSpPr>
        <p:spPr>
          <a:xfrm rot="0">
            <a:off x="15101845" y="9537491"/>
            <a:ext cx="2846784" cy="489204"/>
          </a:xfrm>
          <a:prstGeom prst="rect">
            <a:avLst/>
          </a:prstGeom>
        </p:spPr>
        <p:txBody>
          <a:bodyPr anchor="t" rtlCol="false" tIns="0" lIns="0" bIns="0" rIns="0">
            <a:spAutoFit/>
          </a:bodyPr>
          <a:lstStyle/>
          <a:p>
            <a:pPr algn="ctr">
              <a:lnSpc>
                <a:spcPts val="1938"/>
              </a:lnSpc>
            </a:pPr>
            <a:r>
              <a:rPr lang="en-US" sz="1700">
                <a:solidFill>
                  <a:srgbClr val="FFFFFF"/>
                </a:solidFill>
                <a:latin typeface="Courier Prime"/>
                <a:ea typeface="Courier Prime"/>
                <a:cs typeface="Courier Prime"/>
                <a:sym typeface="Courier Prime"/>
              </a:rPr>
              <a:t>Ing. Civil Informática</a:t>
            </a:r>
          </a:p>
          <a:p>
            <a:pPr algn="ctr">
              <a:lnSpc>
                <a:spcPts val="1938"/>
              </a:lnSpc>
              <a:spcBef>
                <a:spcPct val="0"/>
              </a:spcBef>
            </a:pPr>
            <a:r>
              <a:rPr lang="en-US" sz="1700">
                <a:solidFill>
                  <a:srgbClr val="FFFFFF"/>
                </a:solidFill>
                <a:latin typeface="Courier Prime"/>
                <a:ea typeface="Courier Prime"/>
                <a:cs typeface="Courier Prime"/>
                <a:sym typeface="Courier Prime"/>
              </a:rPr>
              <a:t>Programació</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170578" y="-102870"/>
            <a:ext cx="9314578" cy="10389870"/>
            <a:chOff x="0" y="0"/>
            <a:chExt cx="3397983" cy="3790253"/>
          </a:xfrm>
        </p:grpSpPr>
        <p:sp>
          <p:nvSpPr>
            <p:cNvPr name="Freeform 3" id="3"/>
            <p:cNvSpPr/>
            <p:nvPr/>
          </p:nvSpPr>
          <p:spPr>
            <a:xfrm flipH="false" flipV="false" rot="0">
              <a:off x="0" y="0"/>
              <a:ext cx="3397983" cy="3790253"/>
            </a:xfrm>
            <a:custGeom>
              <a:avLst/>
              <a:gdLst/>
              <a:ahLst/>
              <a:cxnLst/>
              <a:rect r="r" b="b" t="t" l="l"/>
              <a:pathLst>
                <a:path h="3790253" w="3397983">
                  <a:moveTo>
                    <a:pt x="0" y="0"/>
                  </a:moveTo>
                  <a:lnTo>
                    <a:pt x="3397983" y="0"/>
                  </a:lnTo>
                  <a:lnTo>
                    <a:pt x="3397983" y="3790253"/>
                  </a:lnTo>
                  <a:lnTo>
                    <a:pt x="0" y="3790253"/>
                  </a:lnTo>
                  <a:close/>
                </a:path>
              </a:pathLst>
            </a:custGeom>
            <a:solidFill>
              <a:srgbClr val="2D2D35"/>
            </a:solidFill>
          </p:spPr>
        </p:sp>
      </p:grpSp>
      <p:sp>
        <p:nvSpPr>
          <p:cNvPr name="TextBox 4" id="4"/>
          <p:cNvSpPr txBox="true"/>
          <p:nvPr/>
        </p:nvSpPr>
        <p:spPr>
          <a:xfrm rot="0">
            <a:off x="1028700" y="1047750"/>
            <a:ext cx="7031406"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Introducción {</a:t>
            </a:r>
          </a:p>
        </p:txBody>
      </p:sp>
      <p:sp>
        <p:nvSpPr>
          <p:cNvPr name="TextBox 5" id="5"/>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6" id="6"/>
          <p:cNvSpPr txBox="true"/>
          <p:nvPr/>
        </p:nvSpPr>
        <p:spPr>
          <a:xfrm rot="0">
            <a:off x="1180111" y="2923413"/>
            <a:ext cx="6988679" cy="3275457"/>
          </a:xfrm>
          <a:prstGeom prst="rect">
            <a:avLst/>
          </a:prstGeom>
        </p:spPr>
        <p:txBody>
          <a:bodyPr anchor="t" rtlCol="false" tIns="0" lIns="0" bIns="0" rIns="0">
            <a:spAutoFit/>
          </a:bodyPr>
          <a:lstStyle/>
          <a:p>
            <a:pPr algn="l">
              <a:lnSpc>
                <a:spcPts val="3264"/>
              </a:lnSpc>
            </a:pPr>
            <a:r>
              <a:rPr lang="en-US" sz="2400">
                <a:solidFill>
                  <a:srgbClr val="FFFFFF"/>
                </a:solidFill>
                <a:latin typeface="Courier Prime"/>
                <a:ea typeface="Courier Prime"/>
                <a:cs typeface="Courier Prime"/>
                <a:sym typeface="Courier Prime"/>
              </a:rPr>
              <a:t>En el procesamiento de las imágenes digitales el cambio o aislamiento de las imágenes con su fondo puede ser todo un desafío, en este proyecto presentamos una solución en Python que nos facilita identificar y reemplazar los fondos de sus respectivas imágenes.</a:t>
            </a:r>
          </a:p>
        </p:txBody>
      </p:sp>
      <p:sp>
        <p:nvSpPr>
          <p:cNvPr name="TextBox 7" id="7"/>
          <p:cNvSpPr txBox="true"/>
          <p:nvPr/>
        </p:nvSpPr>
        <p:spPr>
          <a:xfrm rot="0">
            <a:off x="10776928" y="3134287"/>
            <a:ext cx="7400193" cy="3897630"/>
          </a:xfrm>
          <a:prstGeom prst="rect">
            <a:avLst/>
          </a:prstGeom>
        </p:spPr>
        <p:txBody>
          <a:bodyPr anchor="t" rtlCol="false" tIns="0" lIns="0" bIns="0" rIns="0">
            <a:spAutoFit/>
          </a:bodyPr>
          <a:lstStyle/>
          <a:p>
            <a:pPr algn="l" marL="518160" indent="-259080" lvl="1">
              <a:lnSpc>
                <a:spcPts val="4440"/>
              </a:lnSpc>
              <a:buFont typeface="Arial"/>
              <a:buChar char="•"/>
            </a:pPr>
            <a:r>
              <a:rPr lang="en-US" sz="2400">
                <a:solidFill>
                  <a:srgbClr val="FF914D"/>
                </a:solidFill>
                <a:latin typeface="Courier Prime"/>
                <a:ea typeface="Courier Prime"/>
                <a:cs typeface="Courier Prime"/>
                <a:sym typeface="Courier Prime"/>
              </a:rPr>
              <a:t>Desarrollar un sistema para cargar imágenes digitales.</a:t>
            </a:r>
          </a:p>
          <a:p>
            <a:pPr algn="l" marL="518160" indent="-259080" lvl="1">
              <a:lnSpc>
                <a:spcPts val="4440"/>
              </a:lnSpc>
              <a:buFont typeface="Arial"/>
              <a:buChar char="•"/>
            </a:pPr>
            <a:r>
              <a:rPr lang="en-US" sz="2400">
                <a:solidFill>
                  <a:srgbClr val="FF914D"/>
                </a:solidFill>
                <a:latin typeface="Courier Prime"/>
                <a:ea typeface="Courier Prime"/>
                <a:cs typeface="Courier Prime"/>
                <a:sym typeface="Courier Prime"/>
              </a:rPr>
              <a:t>Procesar estas imágenes y poder editarlas por medio de matrices.</a:t>
            </a:r>
          </a:p>
          <a:p>
            <a:pPr algn="l" marL="518160" indent="-259080" lvl="1">
              <a:lnSpc>
                <a:spcPts val="4440"/>
              </a:lnSpc>
              <a:buFont typeface="Arial"/>
              <a:buChar char="•"/>
            </a:pPr>
            <a:r>
              <a:rPr lang="en-US" sz="2400">
                <a:solidFill>
                  <a:srgbClr val="FF914D"/>
                </a:solidFill>
                <a:latin typeface="Courier Prime"/>
                <a:ea typeface="Courier Prime"/>
                <a:cs typeface="Courier Prime"/>
                <a:sym typeface="Courier Prime"/>
              </a:rPr>
              <a:t>Generar una interfaz gráfica interactiva para poder manipular las imágenes a conveniencia.</a:t>
            </a:r>
          </a:p>
        </p:txBody>
      </p:sp>
      <p:sp>
        <p:nvSpPr>
          <p:cNvPr name="AutoShape 8" id="8"/>
          <p:cNvSpPr/>
          <p:nvPr/>
        </p:nvSpPr>
        <p:spPr>
          <a:xfrm rot="5400000">
            <a:off x="6783951" y="3553290"/>
            <a:ext cx="7985953" cy="0"/>
          </a:xfrm>
          <a:prstGeom prst="line">
            <a:avLst/>
          </a:prstGeom>
          <a:ln cap="flat" w="95250">
            <a:solidFill>
              <a:srgbClr val="2D2D35"/>
            </a:solidFill>
            <a:prstDash val="solid"/>
            <a:headEnd type="none" len="sm" w="sm"/>
            <a:tailEnd type="none" len="sm" w="sm"/>
          </a:ln>
        </p:spPr>
      </p:sp>
      <p:sp>
        <p:nvSpPr>
          <p:cNvPr name="TextBox 9" id="9"/>
          <p:cNvSpPr txBox="true"/>
          <p:nvPr/>
        </p:nvSpPr>
        <p:spPr>
          <a:xfrm rot="0">
            <a:off x="11145715" y="2388108"/>
            <a:ext cx="7031406"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OBJETIVOS</a:t>
            </a:r>
          </a:p>
        </p:txBody>
      </p:sp>
      <p:sp>
        <p:nvSpPr>
          <p:cNvPr name="Freeform 10" id="10"/>
          <p:cNvSpPr/>
          <p:nvPr/>
        </p:nvSpPr>
        <p:spPr>
          <a:xfrm flipH="false" flipV="false" rot="0">
            <a:off x="17468106" y="195629"/>
            <a:ext cx="542051" cy="544066"/>
          </a:xfrm>
          <a:custGeom>
            <a:avLst/>
            <a:gdLst/>
            <a:ahLst/>
            <a:cxnLst/>
            <a:rect r="r" b="b" t="t" l="l"/>
            <a:pathLst>
              <a:path h="544066" w="542051">
                <a:moveTo>
                  <a:pt x="0" y="0"/>
                </a:moveTo>
                <a:lnTo>
                  <a:pt x="542050" y="0"/>
                </a:lnTo>
                <a:lnTo>
                  <a:pt x="542050" y="544065"/>
                </a:lnTo>
                <a:lnTo>
                  <a:pt x="0" y="544065"/>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20232A"/>
        </a:solidFill>
      </p:bgPr>
    </p:bg>
    <p:spTree>
      <p:nvGrpSpPr>
        <p:cNvPr id="1" name=""/>
        <p:cNvGrpSpPr/>
        <p:nvPr/>
      </p:nvGrpSpPr>
      <p:grpSpPr>
        <a:xfrm>
          <a:off x="0" y="0"/>
          <a:ext cx="0" cy="0"/>
          <a:chOff x="0" y="0"/>
          <a:chExt cx="0" cy="0"/>
        </a:xfrm>
      </p:grpSpPr>
      <p:sp>
        <p:nvSpPr>
          <p:cNvPr name="TextBox 2" id="2"/>
          <p:cNvSpPr txBox="true"/>
          <p:nvPr/>
        </p:nvSpPr>
        <p:spPr>
          <a:xfrm rot="0">
            <a:off x="1244856" y="1047750"/>
            <a:ext cx="7031406"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Estrategia utilizada {</a:t>
            </a:r>
          </a:p>
        </p:txBody>
      </p:sp>
      <p:sp>
        <p:nvSpPr>
          <p:cNvPr name="TextBox 3" id="3"/>
          <p:cNvSpPr txBox="true"/>
          <p:nvPr/>
        </p:nvSpPr>
        <p:spPr>
          <a:xfrm rot="0">
            <a:off x="1028700" y="2006060"/>
            <a:ext cx="8079851" cy="635806"/>
          </a:xfrm>
          <a:prstGeom prst="rect">
            <a:avLst/>
          </a:prstGeom>
        </p:spPr>
        <p:txBody>
          <a:bodyPr anchor="t" rtlCol="false" tIns="0" lIns="0" bIns="0" rIns="0">
            <a:spAutoFit/>
          </a:bodyPr>
          <a:lstStyle/>
          <a:p>
            <a:pPr algn="ctr">
              <a:lnSpc>
                <a:spcPts val="2495"/>
              </a:lnSpc>
              <a:spcBef>
                <a:spcPct val="0"/>
              </a:spcBef>
            </a:pPr>
            <a:r>
              <a:rPr lang="en-US" sz="2189">
                <a:solidFill>
                  <a:srgbClr val="FF914D"/>
                </a:solidFill>
                <a:latin typeface="Courier Prime"/>
                <a:ea typeface="Courier Prime"/>
                <a:cs typeface="Courier Prime"/>
                <a:sym typeface="Courier Prime"/>
              </a:rPr>
              <a:t>La estrategia que utilizamos para este programa se puede dividir en 3 secciones distintas:</a:t>
            </a:r>
          </a:p>
        </p:txBody>
      </p:sp>
      <p:sp>
        <p:nvSpPr>
          <p:cNvPr name="TextBox 4" id="4"/>
          <p:cNvSpPr txBox="true"/>
          <p:nvPr/>
        </p:nvSpPr>
        <p:spPr>
          <a:xfrm rot="0">
            <a:off x="1028700" y="2807141"/>
            <a:ext cx="6995632" cy="1778127"/>
          </a:xfrm>
          <a:prstGeom prst="rect">
            <a:avLst/>
          </a:prstGeom>
        </p:spPr>
        <p:txBody>
          <a:bodyPr anchor="t" rtlCol="false" tIns="0" lIns="0" bIns="0" rIns="0">
            <a:spAutoFit/>
          </a:bodyPr>
          <a:lstStyle/>
          <a:p>
            <a:pPr algn="just" marL="453400" indent="-226700" lvl="1">
              <a:lnSpc>
                <a:spcPts val="2394"/>
              </a:lnSpc>
              <a:buAutoNum type="arabicPeriod" startAt="1"/>
            </a:pPr>
            <a:r>
              <a:rPr lang="en-US" sz="2100">
                <a:solidFill>
                  <a:srgbClr val="FFFFFF"/>
                </a:solidFill>
                <a:latin typeface="Courier Prime"/>
                <a:ea typeface="Courier Prime"/>
                <a:cs typeface="Courier Prime"/>
                <a:sym typeface="Courier Prime"/>
              </a:rPr>
              <a:t>Detección automática del fondo:</a:t>
            </a:r>
          </a:p>
          <a:p>
            <a:pPr algn="just">
              <a:lnSpc>
                <a:spcPts val="2394"/>
              </a:lnSpc>
              <a:spcBef>
                <a:spcPct val="0"/>
              </a:spcBef>
            </a:pPr>
            <a:r>
              <a:rPr lang="en-US" sz="2100">
                <a:solidFill>
                  <a:srgbClr val="FFFFFF"/>
                </a:solidFill>
                <a:latin typeface="Courier Prime"/>
                <a:ea typeface="Courier Prime"/>
                <a:cs typeface="Courier Prime"/>
                <a:sym typeface="Courier Prime"/>
              </a:rPr>
              <a:t>En lugar de pedirle al usuario que seleccione lo que es solo fondo o solo imagen promediamos el color de las esquinas y esto supondría que el objeto está en el centro.</a:t>
            </a:r>
          </a:p>
        </p:txBody>
      </p:sp>
      <p:sp>
        <p:nvSpPr>
          <p:cNvPr name="TextBox 5" id="5"/>
          <p:cNvSpPr txBox="true"/>
          <p:nvPr/>
        </p:nvSpPr>
        <p:spPr>
          <a:xfrm rot="0">
            <a:off x="1028700" y="4747193"/>
            <a:ext cx="7081242" cy="2073402"/>
          </a:xfrm>
          <a:prstGeom prst="rect">
            <a:avLst/>
          </a:prstGeom>
        </p:spPr>
        <p:txBody>
          <a:bodyPr anchor="t" rtlCol="false" tIns="0" lIns="0" bIns="0" rIns="0">
            <a:spAutoFit/>
          </a:bodyPr>
          <a:lstStyle/>
          <a:p>
            <a:pPr algn="l" marL="453390" indent="-226695" lvl="1">
              <a:lnSpc>
                <a:spcPts val="2394"/>
              </a:lnSpc>
              <a:buAutoNum type="arabicPeriod" startAt="1"/>
            </a:pPr>
            <a:r>
              <a:rPr lang="en-US" sz="2100">
                <a:solidFill>
                  <a:srgbClr val="FFFFFF"/>
                </a:solidFill>
                <a:latin typeface="Courier Prime"/>
                <a:ea typeface="Courier Prime"/>
                <a:cs typeface="Courier Prime"/>
                <a:sym typeface="Courier Prime"/>
              </a:rPr>
              <a:t>Segmentación según tolerancia:</a:t>
            </a:r>
          </a:p>
          <a:p>
            <a:pPr algn="l">
              <a:lnSpc>
                <a:spcPts val="2394"/>
              </a:lnSpc>
              <a:spcBef>
                <a:spcPct val="0"/>
              </a:spcBef>
            </a:pPr>
            <a:r>
              <a:rPr lang="en-US" sz="2100">
                <a:solidFill>
                  <a:srgbClr val="FFFFFF"/>
                </a:solidFill>
                <a:latin typeface="Courier Prime"/>
                <a:ea typeface="Courier Prime"/>
                <a:cs typeface="Courier Prime"/>
                <a:sym typeface="Courier Prime"/>
              </a:rPr>
              <a:t>Se calcula “la distancia” entre el color de cada pixel y el color de fondo calculado, si la diferencia es &lt; 60 el programa identifica ese pixel como fondo y lo reemplaza por el nuevo, si la diferencia es mayor lo toma como objeto y lo deja intacto.</a:t>
            </a:r>
          </a:p>
        </p:txBody>
      </p:sp>
      <p:sp>
        <p:nvSpPr>
          <p:cNvPr name="TextBox 6" id="6"/>
          <p:cNvSpPr txBox="true"/>
          <p:nvPr/>
        </p:nvSpPr>
        <p:spPr>
          <a:xfrm rot="0">
            <a:off x="1028700" y="6982520"/>
            <a:ext cx="6995632" cy="1482852"/>
          </a:xfrm>
          <a:prstGeom prst="rect">
            <a:avLst/>
          </a:prstGeom>
        </p:spPr>
        <p:txBody>
          <a:bodyPr anchor="t" rtlCol="false" tIns="0" lIns="0" bIns="0" rIns="0">
            <a:spAutoFit/>
          </a:bodyPr>
          <a:lstStyle/>
          <a:p>
            <a:pPr algn="l" marL="453400" indent="-226700" lvl="1">
              <a:lnSpc>
                <a:spcPts val="2394"/>
              </a:lnSpc>
              <a:buAutoNum type="arabicPeriod" startAt="1"/>
            </a:pPr>
            <a:r>
              <a:rPr lang="en-US" sz="2100">
                <a:solidFill>
                  <a:srgbClr val="FFFFFF"/>
                </a:solidFill>
                <a:latin typeface="Courier Prime"/>
                <a:ea typeface="Courier Prime"/>
                <a:cs typeface="Courier Prime"/>
                <a:sym typeface="Courier Prime"/>
              </a:rPr>
              <a:t>Interfaz gáfica intercativa:</a:t>
            </a:r>
          </a:p>
          <a:p>
            <a:pPr algn="l">
              <a:lnSpc>
                <a:spcPts val="2394"/>
              </a:lnSpc>
              <a:spcBef>
                <a:spcPct val="0"/>
              </a:spcBef>
            </a:pPr>
            <a:r>
              <a:rPr lang="en-US" sz="2100">
                <a:solidFill>
                  <a:srgbClr val="FFFFFF"/>
                </a:solidFill>
                <a:latin typeface="Courier Prime"/>
                <a:ea typeface="Courier Prime"/>
                <a:cs typeface="Courier Prime"/>
                <a:sym typeface="Courier Prime"/>
              </a:rPr>
              <a:t>Mediante Matplotlib y sus funciones asociadas podemos interactuar con la edición de imágenes mediante botones interactivos y funcionales.</a:t>
            </a:r>
          </a:p>
        </p:txBody>
      </p:sp>
      <p:sp>
        <p:nvSpPr>
          <p:cNvPr name="TextBox 7" id="7"/>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1028700" y="2874385"/>
            <a:ext cx="8314629" cy="2239551"/>
            <a:chOff x="0" y="0"/>
            <a:chExt cx="3518720" cy="947770"/>
          </a:xfrm>
        </p:grpSpPr>
        <p:sp>
          <p:nvSpPr>
            <p:cNvPr name="Freeform 3" id="3"/>
            <p:cNvSpPr/>
            <p:nvPr/>
          </p:nvSpPr>
          <p:spPr>
            <a:xfrm flipH="false" flipV="false" rot="0">
              <a:off x="0" y="0"/>
              <a:ext cx="3518720" cy="947770"/>
            </a:xfrm>
            <a:custGeom>
              <a:avLst/>
              <a:gdLst/>
              <a:ahLst/>
              <a:cxnLst/>
              <a:rect r="r" b="b" t="t" l="l"/>
              <a:pathLst>
                <a:path h="947770" w="3518720">
                  <a:moveTo>
                    <a:pt x="0" y="0"/>
                  </a:moveTo>
                  <a:lnTo>
                    <a:pt x="3518720" y="0"/>
                  </a:lnTo>
                  <a:lnTo>
                    <a:pt x="3518720" y="947770"/>
                  </a:lnTo>
                  <a:lnTo>
                    <a:pt x="0" y="947770"/>
                  </a:lnTo>
                  <a:close/>
                </a:path>
              </a:pathLst>
            </a:custGeom>
            <a:solidFill>
              <a:srgbClr val="2D2D35"/>
            </a:solidFill>
          </p:spPr>
        </p:sp>
      </p:grpSp>
      <p:sp>
        <p:nvSpPr>
          <p:cNvPr name="AutoShape 4" id="4"/>
          <p:cNvSpPr/>
          <p:nvPr/>
        </p:nvSpPr>
        <p:spPr>
          <a:xfrm>
            <a:off x="1066800" y="2874385"/>
            <a:ext cx="175" cy="2239551"/>
          </a:xfrm>
          <a:prstGeom prst="line">
            <a:avLst/>
          </a:prstGeom>
          <a:ln cap="flat" w="76200">
            <a:solidFill>
              <a:srgbClr val="737373"/>
            </a:solidFill>
            <a:prstDash val="solid"/>
            <a:headEnd type="none" len="sm" w="sm"/>
            <a:tailEnd type="none" len="sm" w="sm"/>
          </a:ln>
        </p:spPr>
      </p:sp>
      <p:sp>
        <p:nvSpPr>
          <p:cNvPr name="TextBox 5" id="5"/>
          <p:cNvSpPr txBox="true"/>
          <p:nvPr/>
        </p:nvSpPr>
        <p:spPr>
          <a:xfrm rot="0">
            <a:off x="1219200" y="1138930"/>
            <a:ext cx="7031406" cy="11544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Funciones Principales utilizadas{</a:t>
            </a:r>
          </a:p>
        </p:txBody>
      </p:sp>
      <p:grpSp>
        <p:nvGrpSpPr>
          <p:cNvPr name="Group 6" id="6"/>
          <p:cNvGrpSpPr/>
          <p:nvPr/>
        </p:nvGrpSpPr>
        <p:grpSpPr>
          <a:xfrm rot="0">
            <a:off x="1066800" y="5217974"/>
            <a:ext cx="8276529" cy="2229289"/>
            <a:chOff x="0" y="0"/>
            <a:chExt cx="3518720" cy="947770"/>
          </a:xfrm>
        </p:grpSpPr>
        <p:sp>
          <p:nvSpPr>
            <p:cNvPr name="Freeform 7" id="7"/>
            <p:cNvSpPr/>
            <p:nvPr/>
          </p:nvSpPr>
          <p:spPr>
            <a:xfrm flipH="false" flipV="false" rot="0">
              <a:off x="0" y="0"/>
              <a:ext cx="3518720" cy="947770"/>
            </a:xfrm>
            <a:custGeom>
              <a:avLst/>
              <a:gdLst/>
              <a:ahLst/>
              <a:cxnLst/>
              <a:rect r="r" b="b" t="t" l="l"/>
              <a:pathLst>
                <a:path h="947770" w="3518720">
                  <a:moveTo>
                    <a:pt x="0" y="0"/>
                  </a:moveTo>
                  <a:lnTo>
                    <a:pt x="3518720" y="0"/>
                  </a:lnTo>
                  <a:lnTo>
                    <a:pt x="3518720" y="947770"/>
                  </a:lnTo>
                  <a:lnTo>
                    <a:pt x="0" y="947770"/>
                  </a:lnTo>
                  <a:close/>
                </a:path>
              </a:pathLst>
            </a:custGeom>
            <a:solidFill>
              <a:srgbClr val="2D2D35"/>
            </a:solidFill>
          </p:spPr>
        </p:sp>
      </p:grpSp>
      <p:sp>
        <p:nvSpPr>
          <p:cNvPr name="AutoShape 8" id="8"/>
          <p:cNvSpPr/>
          <p:nvPr/>
        </p:nvSpPr>
        <p:spPr>
          <a:xfrm>
            <a:off x="1066800" y="5217974"/>
            <a:ext cx="0" cy="2202556"/>
          </a:xfrm>
          <a:prstGeom prst="line">
            <a:avLst/>
          </a:prstGeom>
          <a:ln cap="flat" w="76200">
            <a:solidFill>
              <a:srgbClr val="737373"/>
            </a:solidFill>
            <a:prstDash val="solid"/>
            <a:headEnd type="none" len="sm" w="sm"/>
            <a:tailEnd type="none" len="sm" w="sm"/>
          </a:ln>
        </p:spPr>
      </p:sp>
      <p:grpSp>
        <p:nvGrpSpPr>
          <p:cNvPr name="Group 9" id="9"/>
          <p:cNvGrpSpPr/>
          <p:nvPr/>
        </p:nvGrpSpPr>
        <p:grpSpPr>
          <a:xfrm rot="0">
            <a:off x="1066800" y="7561563"/>
            <a:ext cx="8276529" cy="2229289"/>
            <a:chOff x="0" y="0"/>
            <a:chExt cx="3518720" cy="947770"/>
          </a:xfrm>
        </p:grpSpPr>
        <p:sp>
          <p:nvSpPr>
            <p:cNvPr name="Freeform 10" id="10"/>
            <p:cNvSpPr/>
            <p:nvPr/>
          </p:nvSpPr>
          <p:spPr>
            <a:xfrm flipH="false" flipV="false" rot="0">
              <a:off x="0" y="0"/>
              <a:ext cx="3518720" cy="947770"/>
            </a:xfrm>
            <a:custGeom>
              <a:avLst/>
              <a:gdLst/>
              <a:ahLst/>
              <a:cxnLst/>
              <a:rect r="r" b="b" t="t" l="l"/>
              <a:pathLst>
                <a:path h="947770" w="3518720">
                  <a:moveTo>
                    <a:pt x="0" y="0"/>
                  </a:moveTo>
                  <a:lnTo>
                    <a:pt x="3518720" y="0"/>
                  </a:lnTo>
                  <a:lnTo>
                    <a:pt x="3518720" y="947770"/>
                  </a:lnTo>
                  <a:lnTo>
                    <a:pt x="0" y="947770"/>
                  </a:lnTo>
                  <a:close/>
                </a:path>
              </a:pathLst>
            </a:custGeom>
            <a:solidFill>
              <a:srgbClr val="2D2D35"/>
            </a:solidFill>
          </p:spPr>
        </p:sp>
      </p:grpSp>
      <p:sp>
        <p:nvSpPr>
          <p:cNvPr name="AutoShape 11" id="11"/>
          <p:cNvSpPr/>
          <p:nvPr/>
        </p:nvSpPr>
        <p:spPr>
          <a:xfrm>
            <a:off x="1066800" y="7588297"/>
            <a:ext cx="0" cy="2202556"/>
          </a:xfrm>
          <a:prstGeom prst="line">
            <a:avLst/>
          </a:prstGeom>
          <a:ln cap="flat" w="76200">
            <a:solidFill>
              <a:srgbClr val="737373"/>
            </a:solidFill>
            <a:prstDash val="solid"/>
            <a:headEnd type="none" len="sm" w="sm"/>
            <a:tailEnd type="none" len="sm" w="sm"/>
          </a:ln>
        </p:spPr>
      </p:sp>
      <p:grpSp>
        <p:nvGrpSpPr>
          <p:cNvPr name="Group 12" id="12"/>
          <p:cNvGrpSpPr/>
          <p:nvPr/>
        </p:nvGrpSpPr>
        <p:grpSpPr>
          <a:xfrm rot="5400000">
            <a:off x="12074838" y="3082494"/>
            <a:ext cx="4343240" cy="6405196"/>
            <a:chOff x="0" y="0"/>
            <a:chExt cx="2643839" cy="3899003"/>
          </a:xfrm>
        </p:grpSpPr>
        <p:sp>
          <p:nvSpPr>
            <p:cNvPr name="Freeform 13" id="13"/>
            <p:cNvSpPr/>
            <p:nvPr/>
          </p:nvSpPr>
          <p:spPr>
            <a:xfrm flipH="false" flipV="false" rot="0">
              <a:off x="0" y="0"/>
              <a:ext cx="2643839" cy="3899003"/>
            </a:xfrm>
            <a:custGeom>
              <a:avLst/>
              <a:gdLst/>
              <a:ahLst/>
              <a:cxnLst/>
              <a:rect r="r" b="b" t="t" l="l"/>
              <a:pathLst>
                <a:path h="3899003" w="2643839">
                  <a:moveTo>
                    <a:pt x="0" y="0"/>
                  </a:moveTo>
                  <a:lnTo>
                    <a:pt x="2643839" y="0"/>
                  </a:lnTo>
                  <a:lnTo>
                    <a:pt x="2643839" y="3899003"/>
                  </a:lnTo>
                  <a:lnTo>
                    <a:pt x="0" y="3899003"/>
                  </a:lnTo>
                  <a:close/>
                </a:path>
              </a:pathLst>
            </a:custGeom>
            <a:solidFill>
              <a:srgbClr val="2D2D35"/>
            </a:solidFill>
          </p:spPr>
        </p:sp>
      </p:grpSp>
      <p:sp>
        <p:nvSpPr>
          <p:cNvPr name="Freeform 14" id="14"/>
          <p:cNvSpPr/>
          <p:nvPr/>
        </p:nvSpPr>
        <p:spPr>
          <a:xfrm flipH="false" flipV="false" rot="0">
            <a:off x="17449056" y="205154"/>
            <a:ext cx="542051" cy="544066"/>
          </a:xfrm>
          <a:custGeom>
            <a:avLst/>
            <a:gdLst/>
            <a:ahLst/>
            <a:cxnLst/>
            <a:rect r="r" b="b" t="t" l="l"/>
            <a:pathLst>
              <a:path h="544066" w="542051">
                <a:moveTo>
                  <a:pt x="0" y="0"/>
                </a:moveTo>
                <a:lnTo>
                  <a:pt x="542050" y="0"/>
                </a:lnTo>
                <a:lnTo>
                  <a:pt x="542050" y="544065"/>
                </a:lnTo>
                <a:lnTo>
                  <a:pt x="0" y="544065"/>
                </a:lnTo>
                <a:lnTo>
                  <a:pt x="0" y="0"/>
                </a:lnTo>
                <a:close/>
              </a:path>
            </a:pathLst>
          </a:custGeom>
          <a:blipFill>
            <a:blip r:embed="rId2"/>
            <a:stretch>
              <a:fillRect l="0" t="0" r="0" b="0"/>
            </a:stretch>
          </a:blipFill>
        </p:spPr>
      </p:sp>
      <p:sp>
        <p:nvSpPr>
          <p:cNvPr name="TextBox 15" id="15"/>
          <p:cNvSpPr txBox="true"/>
          <p:nvPr/>
        </p:nvSpPr>
        <p:spPr>
          <a:xfrm rot="0">
            <a:off x="2254547" y="3038915"/>
            <a:ext cx="5901035" cy="461772"/>
          </a:xfrm>
          <a:prstGeom prst="rect">
            <a:avLst/>
          </a:prstGeom>
        </p:spPr>
        <p:txBody>
          <a:bodyPr anchor="t" rtlCol="false" tIns="0" lIns="0" bIns="0" rIns="0">
            <a:spAutoFit/>
          </a:bodyPr>
          <a:lstStyle/>
          <a:p>
            <a:pPr algn="ctr">
              <a:lnSpc>
                <a:spcPts val="3534"/>
              </a:lnSpc>
              <a:spcBef>
                <a:spcPct val="0"/>
              </a:spcBef>
            </a:pPr>
            <a:r>
              <a:rPr lang="en-US" sz="3100">
                <a:solidFill>
                  <a:srgbClr val="FD9E80"/>
                </a:solidFill>
                <a:latin typeface="Courier Prime"/>
                <a:ea typeface="Courier Prime"/>
                <a:cs typeface="Courier Prime"/>
                <a:sym typeface="Courier Prime"/>
              </a:rPr>
              <a:t>def imageness/def fondos </a:t>
            </a:r>
          </a:p>
        </p:txBody>
      </p:sp>
      <p:sp>
        <p:nvSpPr>
          <p:cNvPr name="TextBox 16" id="16"/>
          <p:cNvSpPr txBox="true"/>
          <p:nvPr/>
        </p:nvSpPr>
        <p:spPr>
          <a:xfrm rot="0">
            <a:off x="1664443" y="3524446"/>
            <a:ext cx="7081242" cy="1187577"/>
          </a:xfrm>
          <a:prstGeom prst="rect">
            <a:avLst/>
          </a:prstGeom>
        </p:spPr>
        <p:txBody>
          <a:bodyPr anchor="t" rtlCol="false" tIns="0" lIns="0" bIns="0" rIns="0">
            <a:spAutoFit/>
          </a:bodyPr>
          <a:lstStyle/>
          <a:p>
            <a:pPr algn="ctr">
              <a:lnSpc>
                <a:spcPts val="2394"/>
              </a:lnSpc>
              <a:spcBef>
                <a:spcPct val="0"/>
              </a:spcBef>
            </a:pPr>
            <a:r>
              <a:rPr lang="en-US" sz="2100">
                <a:solidFill>
                  <a:srgbClr val="FFFFFF"/>
                </a:solidFill>
                <a:latin typeface="Courier Prime"/>
                <a:ea typeface="Courier Prime"/>
                <a:cs typeface="Courier Prime"/>
                <a:sym typeface="Courier Prime"/>
              </a:rPr>
              <a:t>Ambas funciones están diseñadas para buscar en el directorio de cada PC carpetas con el mínimo de imágenes requeridas para continuar con la correcta ejecución del programa.</a:t>
            </a:r>
          </a:p>
        </p:txBody>
      </p:sp>
      <p:sp>
        <p:nvSpPr>
          <p:cNvPr name="TextBox 17" id="17"/>
          <p:cNvSpPr txBox="true"/>
          <p:nvPr/>
        </p:nvSpPr>
        <p:spPr>
          <a:xfrm rot="0">
            <a:off x="2962671" y="5305001"/>
            <a:ext cx="4484787" cy="461772"/>
          </a:xfrm>
          <a:prstGeom prst="rect">
            <a:avLst/>
          </a:prstGeom>
        </p:spPr>
        <p:txBody>
          <a:bodyPr anchor="t" rtlCol="false" tIns="0" lIns="0" bIns="0" rIns="0">
            <a:spAutoFit/>
          </a:bodyPr>
          <a:lstStyle/>
          <a:p>
            <a:pPr algn="ctr">
              <a:lnSpc>
                <a:spcPts val="3534"/>
              </a:lnSpc>
              <a:spcBef>
                <a:spcPct val="0"/>
              </a:spcBef>
            </a:pPr>
            <a:r>
              <a:rPr lang="en-US" sz="3100">
                <a:solidFill>
                  <a:srgbClr val="FD9E80"/>
                </a:solidFill>
                <a:latin typeface="Courier Prime"/>
                <a:ea typeface="Courier Prime"/>
                <a:cs typeface="Courier Prime"/>
                <a:sym typeface="Courier Prime"/>
              </a:rPr>
              <a:t>def generar_reporte</a:t>
            </a:r>
          </a:p>
        </p:txBody>
      </p:sp>
      <p:sp>
        <p:nvSpPr>
          <p:cNvPr name="TextBox 18" id="18"/>
          <p:cNvSpPr txBox="true"/>
          <p:nvPr/>
        </p:nvSpPr>
        <p:spPr>
          <a:xfrm rot="0">
            <a:off x="11886044" y="4354598"/>
            <a:ext cx="4720828" cy="461772"/>
          </a:xfrm>
          <a:prstGeom prst="rect">
            <a:avLst/>
          </a:prstGeom>
        </p:spPr>
        <p:txBody>
          <a:bodyPr anchor="t" rtlCol="false" tIns="0" lIns="0" bIns="0" rIns="0">
            <a:spAutoFit/>
          </a:bodyPr>
          <a:lstStyle/>
          <a:p>
            <a:pPr algn="ctr">
              <a:lnSpc>
                <a:spcPts val="3534"/>
              </a:lnSpc>
              <a:spcBef>
                <a:spcPct val="0"/>
              </a:spcBef>
            </a:pPr>
            <a:r>
              <a:rPr lang="en-US" sz="3100">
                <a:solidFill>
                  <a:srgbClr val="FD9E80"/>
                </a:solidFill>
                <a:latin typeface="Courier Prime"/>
                <a:ea typeface="Courier Prime"/>
                <a:cs typeface="Courier Prime"/>
                <a:sym typeface="Courier Prime"/>
              </a:rPr>
              <a:t>def reemplazar_fondo</a:t>
            </a:r>
          </a:p>
        </p:txBody>
      </p:sp>
      <p:sp>
        <p:nvSpPr>
          <p:cNvPr name="TextBox 19" id="19"/>
          <p:cNvSpPr txBox="true"/>
          <p:nvPr/>
        </p:nvSpPr>
        <p:spPr>
          <a:xfrm rot="0">
            <a:off x="1664443" y="5785824"/>
            <a:ext cx="7081242" cy="1482852"/>
          </a:xfrm>
          <a:prstGeom prst="rect">
            <a:avLst/>
          </a:prstGeom>
        </p:spPr>
        <p:txBody>
          <a:bodyPr anchor="t" rtlCol="false" tIns="0" lIns="0" bIns="0" rIns="0">
            <a:spAutoFit/>
          </a:bodyPr>
          <a:lstStyle/>
          <a:p>
            <a:pPr algn="ctr">
              <a:lnSpc>
                <a:spcPts val="2394"/>
              </a:lnSpc>
              <a:spcBef>
                <a:spcPct val="0"/>
              </a:spcBef>
            </a:pPr>
            <a:r>
              <a:rPr lang="en-US" sz="2100">
                <a:solidFill>
                  <a:srgbClr val="FFFFFF"/>
                </a:solidFill>
                <a:latin typeface="Courier Prime"/>
                <a:ea typeface="Courier Prime"/>
                <a:cs typeface="Courier Prime"/>
                <a:sym typeface="Courier Prime"/>
              </a:rPr>
              <a:t>Esta función en específico sirve para generar un archivo temporal .txt que le permite ver al usuario la cantidad de pixeles del objeto, coordenadas de todos los pixeles entre otras cosas.</a:t>
            </a:r>
          </a:p>
        </p:txBody>
      </p:sp>
      <p:sp>
        <p:nvSpPr>
          <p:cNvPr name="TextBox 20" id="20"/>
          <p:cNvSpPr txBox="true"/>
          <p:nvPr/>
        </p:nvSpPr>
        <p:spPr>
          <a:xfrm rot="0">
            <a:off x="3061642" y="7637763"/>
            <a:ext cx="4248745" cy="461772"/>
          </a:xfrm>
          <a:prstGeom prst="rect">
            <a:avLst/>
          </a:prstGeom>
        </p:spPr>
        <p:txBody>
          <a:bodyPr anchor="t" rtlCol="false" tIns="0" lIns="0" bIns="0" rIns="0">
            <a:spAutoFit/>
          </a:bodyPr>
          <a:lstStyle/>
          <a:p>
            <a:pPr algn="ctr">
              <a:lnSpc>
                <a:spcPts val="3534"/>
              </a:lnSpc>
              <a:spcBef>
                <a:spcPct val="0"/>
              </a:spcBef>
            </a:pPr>
            <a:r>
              <a:rPr lang="en-US" sz="3100">
                <a:solidFill>
                  <a:srgbClr val="FD9E80"/>
                </a:solidFill>
                <a:latin typeface="Courier Prime"/>
                <a:ea typeface="Courier Prime"/>
                <a:cs typeface="Courier Prime"/>
                <a:sym typeface="Courier Prime"/>
              </a:rPr>
              <a:t>def guardar_imagen</a:t>
            </a:r>
          </a:p>
        </p:txBody>
      </p:sp>
      <p:sp>
        <p:nvSpPr>
          <p:cNvPr name="TextBox 21" id="21"/>
          <p:cNvSpPr txBox="true"/>
          <p:nvPr/>
        </p:nvSpPr>
        <p:spPr>
          <a:xfrm rot="0">
            <a:off x="1450497" y="8037813"/>
            <a:ext cx="7081242" cy="1482852"/>
          </a:xfrm>
          <a:prstGeom prst="rect">
            <a:avLst/>
          </a:prstGeom>
        </p:spPr>
        <p:txBody>
          <a:bodyPr anchor="t" rtlCol="false" tIns="0" lIns="0" bIns="0" rIns="0">
            <a:spAutoFit/>
          </a:bodyPr>
          <a:lstStyle/>
          <a:p>
            <a:pPr algn="ctr">
              <a:lnSpc>
                <a:spcPts val="2394"/>
              </a:lnSpc>
              <a:spcBef>
                <a:spcPct val="0"/>
              </a:spcBef>
            </a:pPr>
            <a:r>
              <a:rPr lang="en-US" sz="2100">
                <a:solidFill>
                  <a:srgbClr val="FFFFFF"/>
                </a:solidFill>
                <a:latin typeface="Courier Prime"/>
                <a:ea typeface="Courier Prime"/>
                <a:cs typeface="Courier Prime"/>
                <a:sym typeface="Courier Prime"/>
              </a:rPr>
              <a:t>Guarda la imagen previamente editada por el usuario en el PC como un archivo real y como el programa la detecta como una matriz esta función la transforma esos números para que el PC lo entienda como una foto real.</a:t>
            </a:r>
          </a:p>
        </p:txBody>
      </p:sp>
      <p:sp>
        <p:nvSpPr>
          <p:cNvPr name="TextBox 22" id="22"/>
          <p:cNvSpPr txBox="true"/>
          <p:nvPr/>
        </p:nvSpPr>
        <p:spPr>
          <a:xfrm rot="0">
            <a:off x="11637451" y="5153025"/>
            <a:ext cx="5480258" cy="2296711"/>
          </a:xfrm>
          <a:prstGeom prst="rect">
            <a:avLst/>
          </a:prstGeom>
        </p:spPr>
        <p:txBody>
          <a:bodyPr anchor="t" rtlCol="false" tIns="0" lIns="0" bIns="0" rIns="0">
            <a:spAutoFit/>
          </a:bodyPr>
          <a:lstStyle/>
          <a:p>
            <a:pPr algn="ctr">
              <a:lnSpc>
                <a:spcPts val="3027"/>
              </a:lnSpc>
              <a:spcBef>
                <a:spcPct val="0"/>
              </a:spcBef>
            </a:pPr>
            <a:r>
              <a:rPr lang="en-US" sz="2655">
                <a:solidFill>
                  <a:srgbClr val="FFFFFF"/>
                </a:solidFill>
                <a:latin typeface="Courier Prime"/>
                <a:ea typeface="Courier Prime"/>
                <a:cs typeface="Courier Prime"/>
                <a:sym typeface="Courier Prime"/>
              </a:rPr>
              <a:t>Toma la imagen original, la re-dimensiona, luego detecta el color de su fondo y este lo reemplaza por uno de los fondos para elegir.</a:t>
            </a:r>
          </a:p>
        </p:txBody>
      </p:sp>
      <p:sp>
        <p:nvSpPr>
          <p:cNvPr name="TextBox 23" id="23"/>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659212"/>
            <a:ext cx="7175917" cy="2572121"/>
          </a:xfrm>
          <a:custGeom>
            <a:avLst/>
            <a:gdLst/>
            <a:ahLst/>
            <a:cxnLst/>
            <a:rect r="r" b="b" t="t" l="l"/>
            <a:pathLst>
              <a:path h="2572121" w="7175917">
                <a:moveTo>
                  <a:pt x="0" y="0"/>
                </a:moveTo>
                <a:lnTo>
                  <a:pt x="7175917" y="0"/>
                </a:lnTo>
                <a:lnTo>
                  <a:pt x="7175917" y="2572121"/>
                </a:lnTo>
                <a:lnTo>
                  <a:pt x="0" y="2572121"/>
                </a:lnTo>
                <a:lnTo>
                  <a:pt x="0" y="0"/>
                </a:lnTo>
                <a:close/>
              </a:path>
            </a:pathLst>
          </a:custGeom>
          <a:blipFill>
            <a:blip r:embed="rId2"/>
            <a:stretch>
              <a:fillRect l="0" t="0" r="0" b="0"/>
            </a:stretch>
          </a:blipFill>
        </p:spPr>
      </p:sp>
      <p:sp>
        <p:nvSpPr>
          <p:cNvPr name="TextBox 3" id="3"/>
          <p:cNvSpPr txBox="true"/>
          <p:nvPr/>
        </p:nvSpPr>
        <p:spPr>
          <a:xfrm rot="0">
            <a:off x="1028700" y="1047750"/>
            <a:ext cx="7031406"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Manejo de errores {</a:t>
            </a:r>
          </a:p>
        </p:txBody>
      </p:sp>
      <p:sp>
        <p:nvSpPr>
          <p:cNvPr name="TextBox 4" id="4"/>
          <p:cNvSpPr txBox="true"/>
          <p:nvPr/>
        </p:nvSpPr>
        <p:spPr>
          <a:xfrm rot="0">
            <a:off x="906181" y="1897421"/>
            <a:ext cx="8603190" cy="1274064"/>
          </a:xfrm>
          <a:prstGeom prst="rect">
            <a:avLst/>
          </a:prstGeom>
        </p:spPr>
        <p:txBody>
          <a:bodyPr anchor="t" rtlCol="false" tIns="0" lIns="0" bIns="0" rIns="0">
            <a:spAutoFit/>
          </a:bodyPr>
          <a:lstStyle/>
          <a:p>
            <a:pPr algn="ctr">
              <a:lnSpc>
                <a:spcPts val="2508"/>
              </a:lnSpc>
              <a:spcBef>
                <a:spcPct val="0"/>
              </a:spcBef>
            </a:pPr>
            <a:r>
              <a:rPr lang="en-US" sz="2200">
                <a:solidFill>
                  <a:srgbClr val="FF914D"/>
                </a:solidFill>
                <a:latin typeface="Courier Prime"/>
                <a:ea typeface="Courier Prime"/>
                <a:cs typeface="Courier Prime"/>
                <a:sym typeface="Courier Prime"/>
              </a:rPr>
              <a:t>Mediante las funciones nativas de Python como el “Try” y el “Except” pudimos evitar errores que finalizarían con el funcionamiento de nuestro programa, como por ejemplo:</a:t>
            </a:r>
          </a:p>
        </p:txBody>
      </p:sp>
      <p:sp>
        <p:nvSpPr>
          <p:cNvPr name="TextBox 5" id="5"/>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DAHNtIySKu4</dc:identifier>
  <dcterms:modified xsi:type="dcterms:W3CDTF">2011-08-01T06:04:30Z</dcterms:modified>
  <cp:revision>1</cp:revision>
  <dc:title>Propuesta Técnica {</dc:title>
</cp:coreProperties>
</file>