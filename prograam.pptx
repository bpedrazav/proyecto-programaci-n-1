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Courier Prime" panose="020B0604020202020204" charset="0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37DA78-AFB5-C1D8-0C11-12A9E2CA0405}" v="415" dt="2026-06-28T20:35:45.6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762003" y="-102870"/>
            <a:ext cx="3525998" cy="10389870"/>
            <a:chOff x="0" y="0"/>
            <a:chExt cx="1543416" cy="37902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43416" cy="3790253"/>
            </a:xfrm>
            <a:custGeom>
              <a:avLst/>
              <a:gdLst/>
              <a:ahLst/>
              <a:cxnLst/>
              <a:rect l="l" t="t" r="r" b="b"/>
              <a:pathLst>
                <a:path w="1543416" h="3790253">
                  <a:moveTo>
                    <a:pt x="0" y="0"/>
                  </a:moveTo>
                  <a:lnTo>
                    <a:pt x="1543416" y="0"/>
                  </a:lnTo>
                  <a:lnTo>
                    <a:pt x="1543416" y="3790253"/>
                  </a:lnTo>
                  <a:lnTo>
                    <a:pt x="0" y="3790253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id="5" name="Freeform 5"/>
          <p:cNvSpPr/>
          <p:nvPr/>
        </p:nvSpPr>
        <p:spPr>
          <a:xfrm>
            <a:off x="17458581" y="205154"/>
            <a:ext cx="542051" cy="544066"/>
          </a:xfrm>
          <a:custGeom>
            <a:avLst/>
            <a:gdLst/>
            <a:ahLst/>
            <a:cxnLst/>
            <a:rect l="l" t="t" r="r" b="b"/>
            <a:pathLst>
              <a:path w="542051" h="544066">
                <a:moveTo>
                  <a:pt x="0" y="0"/>
                </a:moveTo>
                <a:lnTo>
                  <a:pt x="542050" y="0"/>
                </a:lnTo>
                <a:lnTo>
                  <a:pt x="542050" y="544065"/>
                </a:lnTo>
                <a:lnTo>
                  <a:pt x="0" y="5440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278912" y="2676000"/>
            <a:ext cx="7599700" cy="2590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42"/>
              </a:lnSpc>
            </a:pPr>
            <a:r>
              <a:rPr lang="en-US" sz="5914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EDITOR DE FONDOS PARA IMÁGENES DIGITALES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194891" y="5359521"/>
            <a:ext cx="8212073" cy="2269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dirty="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INTEGRANTES:</a:t>
            </a:r>
          </a:p>
          <a:p>
            <a:pPr algn="l">
              <a:lnSpc>
                <a:spcPts val="5880"/>
              </a:lnSpc>
            </a:pPr>
            <a:r>
              <a:rPr lang="en-US" sz="4200" dirty="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Vicente </a:t>
            </a:r>
            <a:r>
              <a:rPr lang="en-US" sz="4200" dirty="0" err="1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Huilcamán</a:t>
            </a:r>
            <a:endParaRPr lang="en-US" sz="4200" dirty="0">
              <a:solidFill>
                <a:srgbClr val="FF914D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algn="l">
              <a:lnSpc>
                <a:spcPts val="5880"/>
              </a:lnSpc>
            </a:pPr>
            <a:r>
              <a:rPr lang="en-US" sz="4200" dirty="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Benjamín Pedraza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113038" y="1662031"/>
            <a:ext cx="11259224" cy="474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736">
                <a:solidFill>
                  <a:srgbClr val="8F8F8F"/>
                </a:solidFill>
                <a:latin typeface="Courier Prime"/>
                <a:ea typeface="Courier Prime"/>
                <a:cs typeface="Courier Prime"/>
                <a:sym typeface="Courier Prime"/>
              </a:rPr>
              <a:t>Fecha = “30 de Junio, 2026”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124702" y="8420100"/>
            <a:ext cx="4800600" cy="5187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38"/>
              </a:lnSpc>
            </a:pPr>
            <a:r>
              <a:rPr lang="en-US" sz="24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Ing. Civil </a:t>
            </a:r>
            <a:r>
              <a:rPr lang="en-US" sz="24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Informática</a:t>
            </a:r>
            <a:r>
              <a:rPr lang="en-US" sz="24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</a:p>
          <a:p>
            <a:pPr algn="ctr">
              <a:lnSpc>
                <a:spcPts val="1938"/>
              </a:lnSpc>
            </a:pPr>
            <a:r>
              <a:rPr lang="en-US" sz="24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Programació</a:t>
            </a:r>
            <a:endParaRPr lang="en-US" sz="2400" dirty="0" err="1">
              <a:solidFill>
                <a:srgbClr val="FFFFFF"/>
              </a:solidFill>
              <a:latin typeface="Courier Prime"/>
              <a:ea typeface="Courier Prime"/>
              <a:cs typeface="Courier Prim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22978" y="-102870"/>
            <a:ext cx="9314578" cy="10389870"/>
            <a:chOff x="0" y="0"/>
            <a:chExt cx="3397983" cy="37902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97983" cy="3790253"/>
            </a:xfrm>
            <a:custGeom>
              <a:avLst/>
              <a:gdLst/>
              <a:ahLst/>
              <a:cxnLst/>
              <a:rect l="l" t="t" r="r" b="b"/>
              <a:pathLst>
                <a:path w="3397983" h="3790253">
                  <a:moveTo>
                    <a:pt x="0" y="0"/>
                  </a:moveTo>
                  <a:lnTo>
                    <a:pt x="3397983" y="0"/>
                  </a:lnTo>
                  <a:lnTo>
                    <a:pt x="3397983" y="3790253"/>
                  </a:lnTo>
                  <a:lnTo>
                    <a:pt x="0" y="3790253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1028700" y="1047750"/>
            <a:ext cx="7031406" cy="596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Introducción</a:t>
            </a:r>
            <a:endParaRPr lang="en-US" sz="3999" dirty="0">
              <a:solidFill>
                <a:srgbClr val="FFFFFF"/>
              </a:solidFill>
              <a:latin typeface="Courier Prime"/>
              <a:ea typeface="Courier Prime"/>
              <a:cs typeface="Courier Prime"/>
              <a:sym typeface="Courier Prime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80111" y="2923413"/>
            <a:ext cx="6988679" cy="3275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En el procesamiento de las imágenes digitales el cambio o aislamiento de las imágenes con su fondo puede ser todo un desafío, en este proyecto presentamos una solución en Python que nos facilita identificar y reemplazar los fondos de sus respectivas imágenes.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776928" y="3134287"/>
            <a:ext cx="7400193" cy="3897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4440"/>
              </a:lnSpc>
              <a:buFont typeface="Arial"/>
              <a:buChar char="•"/>
            </a:pPr>
            <a:r>
              <a:rPr lang="en-US" sz="24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Desarrollar un sistema para cargar imágenes digitales.</a:t>
            </a:r>
          </a:p>
          <a:p>
            <a:pPr marL="518160" lvl="1" indent="-259080" algn="l">
              <a:lnSpc>
                <a:spcPts val="4440"/>
              </a:lnSpc>
              <a:buFont typeface="Arial"/>
              <a:buChar char="•"/>
            </a:pPr>
            <a:r>
              <a:rPr lang="en-US" sz="24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Procesar estas imágenes y poder editarlas por medio de matrices.</a:t>
            </a:r>
          </a:p>
          <a:p>
            <a:pPr marL="518160" lvl="1" indent="-259080" algn="l">
              <a:lnSpc>
                <a:spcPts val="4440"/>
              </a:lnSpc>
              <a:buFont typeface="Arial"/>
              <a:buChar char="•"/>
            </a:pPr>
            <a:r>
              <a:rPr lang="en-US" sz="24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Generar una interfaz gráfica interactiva para poder manipular las imágenes a conveniencia.</a:t>
            </a:r>
          </a:p>
        </p:txBody>
      </p:sp>
      <p:sp>
        <p:nvSpPr>
          <p:cNvPr id="8" name="AutoShape 8"/>
          <p:cNvSpPr/>
          <p:nvPr/>
        </p:nvSpPr>
        <p:spPr>
          <a:xfrm rot="5400000">
            <a:off x="6783951" y="3553290"/>
            <a:ext cx="7985953" cy="0"/>
          </a:xfrm>
          <a:prstGeom prst="line">
            <a:avLst/>
          </a:prstGeom>
          <a:ln w="95250" cap="flat">
            <a:solidFill>
              <a:srgbClr val="2D2D3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11145715" y="2388108"/>
            <a:ext cx="7031406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OBJETIVOS</a:t>
            </a:r>
          </a:p>
        </p:txBody>
      </p:sp>
      <p:sp>
        <p:nvSpPr>
          <p:cNvPr id="10" name="Freeform 10"/>
          <p:cNvSpPr/>
          <p:nvPr/>
        </p:nvSpPr>
        <p:spPr>
          <a:xfrm>
            <a:off x="17468106" y="195629"/>
            <a:ext cx="542051" cy="544066"/>
          </a:xfrm>
          <a:custGeom>
            <a:avLst/>
            <a:gdLst/>
            <a:ahLst/>
            <a:cxnLst/>
            <a:rect l="l" t="t" r="r" b="b"/>
            <a:pathLst>
              <a:path w="542051" h="544066">
                <a:moveTo>
                  <a:pt x="0" y="0"/>
                </a:moveTo>
                <a:lnTo>
                  <a:pt x="542050" y="0"/>
                </a:lnTo>
                <a:lnTo>
                  <a:pt x="542050" y="544065"/>
                </a:lnTo>
                <a:lnTo>
                  <a:pt x="0" y="5440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44856" y="1047750"/>
            <a:ext cx="7031406" cy="596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Estrategia</a:t>
            </a:r>
            <a:r>
              <a:rPr lang="en-US" sz="3999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3999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utilizada</a:t>
            </a:r>
            <a:endParaRPr lang="en-US" sz="3999" dirty="0">
              <a:solidFill>
                <a:srgbClr val="FFFFFF"/>
              </a:solidFill>
              <a:latin typeface="Courier Prime"/>
              <a:ea typeface="Courier Prime"/>
              <a:cs typeface="Courier Prime"/>
              <a:sym typeface="Courier Prime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28700" y="2006060"/>
            <a:ext cx="8079851" cy="635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5"/>
              </a:lnSpc>
              <a:spcBef>
                <a:spcPct val="0"/>
              </a:spcBef>
            </a:pPr>
            <a:r>
              <a:rPr lang="en-US" sz="2189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La estrategia que utilizamos para este programa se puede dividir en 3 secciones distintas: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807141"/>
            <a:ext cx="6995632" cy="1778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400" lvl="1" indent="-226700" algn="just">
              <a:lnSpc>
                <a:spcPts val="2394"/>
              </a:lnSpc>
              <a:buAutoNum type="arabicPeriod"/>
            </a:pPr>
            <a:r>
              <a:rPr lang="en-US" sz="21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Detección automática del fondo:</a:t>
            </a:r>
          </a:p>
          <a:p>
            <a:pPr algn="just">
              <a:lnSpc>
                <a:spcPts val="2394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En lugar de pedirle al usuario que seleccione lo que es solo fondo o solo imagen promediamos el color de las esquinas y esto supondría que el objeto está en el centro.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4747193"/>
            <a:ext cx="7081242" cy="2073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394"/>
              </a:lnSpc>
              <a:buAutoNum type="arabicPeriod"/>
            </a:pPr>
            <a:r>
              <a:rPr lang="en-US" sz="21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Segmentación según tolerancia:</a:t>
            </a:r>
          </a:p>
          <a:p>
            <a:pPr algn="l">
              <a:lnSpc>
                <a:spcPts val="2394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Se calcula “la distancia” entre el color de cada pixel y el color de fondo calculado, si la diferencia es &lt; 60 el programa identifica ese pixel como fondo y lo reemplaza por el nuevo, si la diferencia es mayor lo toma como objeto y lo deja intacto.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6982520"/>
            <a:ext cx="6995632" cy="1482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400" lvl="1" indent="-226700" algn="l">
              <a:lnSpc>
                <a:spcPts val="2394"/>
              </a:lnSpc>
              <a:buAutoNum type="arabicPeriod"/>
            </a:pPr>
            <a:r>
              <a:rPr lang="en-US" sz="21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Interfaz gáfica intercativa:</a:t>
            </a:r>
          </a:p>
          <a:p>
            <a:pPr algn="l">
              <a:lnSpc>
                <a:spcPts val="2394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Mediante Matplotlib y sus funciones asociadas podemos interactuar con la edición de imágenes mediante botones interactivos y funcionales.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6">
            <a:extLst>
              <a:ext uri="{FF2B5EF4-FFF2-40B4-BE49-F238E27FC236}">
                <a16:creationId xmlns:a16="http://schemas.microsoft.com/office/drawing/2014/main" id="{AA37BDCE-6698-B8DB-6806-BBA695891815}"/>
              </a:ext>
            </a:extLst>
          </p:cNvPr>
          <p:cNvGrpSpPr/>
          <p:nvPr/>
        </p:nvGrpSpPr>
        <p:grpSpPr>
          <a:xfrm>
            <a:off x="1695653" y="2715796"/>
            <a:ext cx="7076986" cy="3154593"/>
            <a:chOff x="0" y="0"/>
            <a:chExt cx="3518720" cy="947770"/>
          </a:xfrm>
        </p:grpSpPr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CD55B02E-D290-F55E-6AF1-BE7F2C013EF5}"/>
                </a:ext>
              </a:extLst>
            </p:cNvPr>
            <p:cNvSpPr/>
            <p:nvPr/>
          </p:nvSpPr>
          <p:spPr>
            <a:xfrm>
              <a:off x="0" y="0"/>
              <a:ext cx="3518720" cy="947770"/>
            </a:xfrm>
            <a:custGeom>
              <a:avLst/>
              <a:gdLst/>
              <a:ahLst/>
              <a:cxnLst/>
              <a:rect l="l" t="t" r="r" b="b"/>
              <a:pathLst>
                <a:path w="3518720" h="947770">
                  <a:moveTo>
                    <a:pt x="0" y="0"/>
                  </a:moveTo>
                  <a:lnTo>
                    <a:pt x="3518720" y="0"/>
                  </a:lnTo>
                  <a:lnTo>
                    <a:pt x="3518720" y="947770"/>
                  </a:lnTo>
                  <a:lnTo>
                    <a:pt x="0" y="947770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id="27" name="AutoShape 8">
            <a:extLst>
              <a:ext uri="{FF2B5EF4-FFF2-40B4-BE49-F238E27FC236}">
                <a16:creationId xmlns:a16="http://schemas.microsoft.com/office/drawing/2014/main" id="{2990DD9A-C500-D2B4-B4E9-33F78D9AF66C}"/>
              </a:ext>
            </a:extLst>
          </p:cNvPr>
          <p:cNvSpPr/>
          <p:nvPr/>
        </p:nvSpPr>
        <p:spPr>
          <a:xfrm>
            <a:off x="1693018" y="2715795"/>
            <a:ext cx="16287" cy="3154594"/>
          </a:xfrm>
          <a:prstGeom prst="line">
            <a:avLst/>
          </a:prstGeom>
          <a:ln w="76200" cap="flat">
            <a:solidFill>
              <a:srgbClr val="73737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1219200" y="1138930"/>
            <a:ext cx="7031406" cy="1186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Funciones</a:t>
            </a:r>
            <a:r>
              <a:rPr lang="en-US" sz="3999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3999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Principales</a:t>
            </a:r>
            <a:r>
              <a:rPr lang="en-US" sz="3999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3999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utilizadas</a:t>
            </a:r>
            <a:endParaRPr lang="en-US" sz="3999" dirty="0">
              <a:solidFill>
                <a:srgbClr val="FFFFFF"/>
              </a:solidFill>
              <a:latin typeface="Courier Prime"/>
              <a:ea typeface="Courier Prime"/>
              <a:cs typeface="Courier Prime"/>
              <a:sym typeface="Courier Prime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788860" y="6680028"/>
            <a:ext cx="7076986" cy="3154593"/>
            <a:chOff x="0" y="0"/>
            <a:chExt cx="3518720" cy="94777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518720" cy="947770"/>
            </a:xfrm>
            <a:custGeom>
              <a:avLst/>
              <a:gdLst/>
              <a:ahLst/>
              <a:cxnLst/>
              <a:rect l="l" t="t" r="r" b="b"/>
              <a:pathLst>
                <a:path w="3518720" h="947770">
                  <a:moveTo>
                    <a:pt x="0" y="0"/>
                  </a:moveTo>
                  <a:lnTo>
                    <a:pt x="3518720" y="0"/>
                  </a:lnTo>
                  <a:lnTo>
                    <a:pt x="3518720" y="947770"/>
                  </a:lnTo>
                  <a:lnTo>
                    <a:pt x="0" y="947770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id="8" name="AutoShape 8"/>
          <p:cNvSpPr/>
          <p:nvPr/>
        </p:nvSpPr>
        <p:spPr>
          <a:xfrm>
            <a:off x="1786225" y="6680027"/>
            <a:ext cx="16287" cy="3154594"/>
          </a:xfrm>
          <a:prstGeom prst="line">
            <a:avLst/>
          </a:prstGeom>
          <a:ln w="76200" cap="flat">
            <a:solidFill>
              <a:srgbClr val="73737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10670131" y="6680027"/>
            <a:ext cx="6405196" cy="3154594"/>
            <a:chOff x="0" y="0"/>
            <a:chExt cx="3518720" cy="94777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518720" cy="947770"/>
            </a:xfrm>
            <a:custGeom>
              <a:avLst/>
              <a:gdLst/>
              <a:ahLst/>
              <a:cxnLst/>
              <a:rect l="l" t="t" r="r" b="b"/>
              <a:pathLst>
                <a:path w="3518720" h="947770">
                  <a:moveTo>
                    <a:pt x="0" y="0"/>
                  </a:moveTo>
                  <a:lnTo>
                    <a:pt x="3518720" y="0"/>
                  </a:lnTo>
                  <a:lnTo>
                    <a:pt x="3518720" y="947770"/>
                  </a:lnTo>
                  <a:lnTo>
                    <a:pt x="0" y="947770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grpSp>
        <p:nvGrpSpPr>
          <p:cNvPr id="12" name="Group 12"/>
          <p:cNvGrpSpPr/>
          <p:nvPr/>
        </p:nvGrpSpPr>
        <p:grpSpPr>
          <a:xfrm rot="5400000">
            <a:off x="12201676" y="1184250"/>
            <a:ext cx="3342105" cy="6405196"/>
            <a:chOff x="0" y="0"/>
            <a:chExt cx="2643839" cy="389900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643839" cy="3899003"/>
            </a:xfrm>
            <a:custGeom>
              <a:avLst/>
              <a:gdLst/>
              <a:ahLst/>
              <a:cxnLst/>
              <a:rect l="l" t="t" r="r" b="b"/>
              <a:pathLst>
                <a:path w="2643839" h="3899003">
                  <a:moveTo>
                    <a:pt x="0" y="0"/>
                  </a:moveTo>
                  <a:lnTo>
                    <a:pt x="2643839" y="0"/>
                  </a:lnTo>
                  <a:lnTo>
                    <a:pt x="2643839" y="3899003"/>
                  </a:lnTo>
                  <a:lnTo>
                    <a:pt x="0" y="3899003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id="14" name="Freeform 14"/>
          <p:cNvSpPr/>
          <p:nvPr/>
        </p:nvSpPr>
        <p:spPr>
          <a:xfrm>
            <a:off x="17449056" y="205154"/>
            <a:ext cx="542051" cy="544066"/>
          </a:xfrm>
          <a:custGeom>
            <a:avLst/>
            <a:gdLst/>
            <a:ahLst/>
            <a:cxnLst/>
            <a:rect l="l" t="t" r="r" b="b"/>
            <a:pathLst>
              <a:path w="542051" h="544066">
                <a:moveTo>
                  <a:pt x="0" y="0"/>
                </a:moveTo>
                <a:lnTo>
                  <a:pt x="542050" y="0"/>
                </a:lnTo>
                <a:lnTo>
                  <a:pt x="542050" y="544065"/>
                </a:lnTo>
                <a:lnTo>
                  <a:pt x="0" y="5440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2254547" y="3038915"/>
            <a:ext cx="5901035" cy="461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34"/>
              </a:lnSpc>
              <a:spcBef>
                <a:spcPct val="0"/>
              </a:spcBef>
            </a:pPr>
            <a:r>
              <a:rPr lang="en-US" sz="3100">
                <a:solidFill>
                  <a:srgbClr val="FD9E80"/>
                </a:solidFill>
                <a:latin typeface="Courier Prime"/>
                <a:ea typeface="Courier Prime"/>
                <a:cs typeface="Courier Prime"/>
                <a:sym typeface="Courier Prime"/>
              </a:rPr>
              <a:t>def imageness/def fondos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302896" y="3750238"/>
            <a:ext cx="5806826" cy="15427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94"/>
              </a:lnSpc>
              <a:spcBef>
                <a:spcPct val="0"/>
              </a:spcBef>
            </a:pP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Ambas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funciones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están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diseñadas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para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buscar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en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el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directorio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de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cada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PC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carpetas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con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el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mínimo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de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imágenes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requeridas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para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continuar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con la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correcta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ejecución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del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programa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986481" y="6863479"/>
            <a:ext cx="4484787" cy="461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34"/>
              </a:lnSpc>
              <a:spcBef>
                <a:spcPct val="0"/>
              </a:spcBef>
            </a:pPr>
            <a:r>
              <a:rPr lang="en-US" sz="3100" dirty="0">
                <a:solidFill>
                  <a:srgbClr val="FD9E80"/>
                </a:solidFill>
                <a:latin typeface="Courier Prime"/>
                <a:ea typeface="Courier Prime"/>
                <a:cs typeface="Courier Prime"/>
                <a:sym typeface="Courier Prime"/>
              </a:rPr>
              <a:t>def </a:t>
            </a:r>
            <a:r>
              <a:rPr lang="en-US" sz="3100" dirty="0" err="1">
                <a:solidFill>
                  <a:srgbClr val="FD9E80"/>
                </a:solidFill>
                <a:latin typeface="Courier Prime"/>
                <a:ea typeface="Courier Prime"/>
                <a:cs typeface="Courier Prime"/>
                <a:sym typeface="Courier Prime"/>
              </a:rPr>
              <a:t>generar_reporte</a:t>
            </a:r>
            <a:endParaRPr lang="en-US" sz="3100" dirty="0">
              <a:solidFill>
                <a:srgbClr val="FD9E80"/>
              </a:solidFill>
              <a:latin typeface="Courier Prime"/>
              <a:ea typeface="Courier Prime"/>
              <a:cs typeface="Courier Prime"/>
              <a:sym typeface="Courier Prime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1512315" y="2956921"/>
            <a:ext cx="4720828" cy="461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34"/>
              </a:lnSpc>
              <a:spcBef>
                <a:spcPct val="0"/>
              </a:spcBef>
            </a:pPr>
            <a:r>
              <a:rPr lang="en-US" sz="3100">
                <a:solidFill>
                  <a:srgbClr val="FD9E80"/>
                </a:solidFill>
                <a:latin typeface="Courier Prime"/>
                <a:ea typeface="Courier Prime"/>
                <a:cs typeface="Courier Prime"/>
                <a:sym typeface="Courier Prime"/>
              </a:rPr>
              <a:t>def reemplazar_fondo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995211" y="7904004"/>
            <a:ext cx="6467328" cy="15427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94"/>
              </a:lnSpc>
              <a:spcBef>
                <a:spcPct val="0"/>
              </a:spcBef>
            </a:pP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Esta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función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en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específico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sirve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para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generar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un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archivo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temporal .txt que le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permite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ver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al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usuario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la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cantidad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de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pixeles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del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objeto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,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coordenadas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de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todos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los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pixeles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entre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otras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cosas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879477" y="6859247"/>
            <a:ext cx="4248745" cy="461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34"/>
              </a:lnSpc>
              <a:spcBef>
                <a:spcPct val="0"/>
              </a:spcBef>
            </a:pPr>
            <a:r>
              <a:rPr lang="en-US" sz="3100" dirty="0">
                <a:solidFill>
                  <a:srgbClr val="FD9E80"/>
                </a:solidFill>
                <a:latin typeface="Courier Prime"/>
                <a:ea typeface="Courier Prime"/>
                <a:cs typeface="Courier Prime"/>
                <a:sym typeface="Courier Prime"/>
              </a:rPr>
              <a:t>def </a:t>
            </a:r>
            <a:r>
              <a:rPr lang="en-US" sz="3100" dirty="0" err="1">
                <a:solidFill>
                  <a:srgbClr val="FD9E80"/>
                </a:solidFill>
                <a:latin typeface="Courier Prime"/>
                <a:ea typeface="Courier Prime"/>
                <a:cs typeface="Courier Prime"/>
                <a:sym typeface="Courier Prime"/>
              </a:rPr>
              <a:t>guardar_imagen</a:t>
            </a:r>
            <a:endParaRPr lang="en-US" sz="3100" dirty="0">
              <a:solidFill>
                <a:srgbClr val="FD9E80"/>
              </a:solidFill>
              <a:latin typeface="Courier Prime"/>
              <a:ea typeface="Courier Prime"/>
              <a:cs typeface="Courier Prime"/>
              <a:sym typeface="Courier Prime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0862827" y="7750116"/>
            <a:ext cx="6019801" cy="18505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94"/>
              </a:lnSpc>
              <a:spcBef>
                <a:spcPct val="0"/>
              </a:spcBef>
            </a:pP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Guarda la imagen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previamente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editada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por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el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usuario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en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el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PC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como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un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archivo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real y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como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el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programa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la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detecta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como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una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matriz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esta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función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la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transforma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esos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números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para que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el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PC lo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entienda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como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una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foto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real.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112089" y="3862174"/>
            <a:ext cx="5480258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7"/>
              </a:lnSpc>
              <a:spcBef>
                <a:spcPct val="0"/>
              </a:spcBef>
            </a:pP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Toma la imagen original, la re-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dimensiona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, luego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detecta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el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color de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su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fondo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y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este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lo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reemplaza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por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uno de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los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fondos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para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elegir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.</a:t>
            </a:r>
          </a:p>
        </p:txBody>
      </p:sp>
      <p:sp>
        <p:nvSpPr>
          <p:cNvPr id="24" name="AutoShape 11">
            <a:extLst>
              <a:ext uri="{FF2B5EF4-FFF2-40B4-BE49-F238E27FC236}">
                <a16:creationId xmlns:a16="http://schemas.microsoft.com/office/drawing/2014/main" id="{75C023F1-7F57-AA32-829F-CC9110D774DA}"/>
              </a:ext>
            </a:extLst>
          </p:cNvPr>
          <p:cNvSpPr/>
          <p:nvPr/>
        </p:nvSpPr>
        <p:spPr>
          <a:xfrm>
            <a:off x="10665367" y="6680027"/>
            <a:ext cx="2129" cy="3154594"/>
          </a:xfrm>
          <a:prstGeom prst="line">
            <a:avLst/>
          </a:prstGeom>
          <a:ln w="76200" cap="flat">
            <a:solidFill>
              <a:srgbClr val="73737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>
            <a:off x="10665367" y="2731303"/>
            <a:ext cx="14155" cy="3342106"/>
          </a:xfrm>
          <a:prstGeom prst="line">
            <a:avLst/>
          </a:prstGeom>
          <a:ln w="76200" cap="flat">
            <a:solidFill>
              <a:srgbClr val="737373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00" y="1047750"/>
            <a:ext cx="7031406" cy="596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Manejo</a:t>
            </a:r>
            <a:r>
              <a:rPr lang="en-US" sz="3999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de </a:t>
            </a:r>
            <a:r>
              <a:rPr lang="en-US" sz="3999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errores</a:t>
            </a:r>
            <a:endParaRPr lang="en-US" sz="3999" dirty="0">
              <a:solidFill>
                <a:srgbClr val="FFFFFF"/>
              </a:solidFill>
              <a:latin typeface="Courier Prime"/>
              <a:ea typeface="Courier Prime"/>
              <a:cs typeface="Courier Prime"/>
              <a:sym typeface="Courier Prime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06181" y="1897421"/>
            <a:ext cx="8603190" cy="1286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8"/>
              </a:lnSpc>
              <a:spcBef>
                <a:spcPct val="0"/>
              </a:spcBef>
            </a:pPr>
            <a:r>
              <a:rPr lang="en-US" sz="2200" dirty="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Mediante las </a:t>
            </a:r>
            <a:r>
              <a:rPr lang="en-US" sz="2200" dirty="0" err="1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funciones</a:t>
            </a:r>
            <a:r>
              <a:rPr lang="en-US" sz="2200" dirty="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200" dirty="0" err="1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nativas</a:t>
            </a:r>
            <a:r>
              <a:rPr lang="en-US" sz="2200" dirty="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 de Python </a:t>
            </a:r>
            <a:r>
              <a:rPr lang="en-US" sz="2200" dirty="0" err="1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como</a:t>
            </a:r>
            <a:r>
              <a:rPr lang="en-US" sz="2200" dirty="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 el “Try” y el “xcept” </a:t>
            </a:r>
            <a:r>
              <a:rPr lang="en-US" sz="2200" dirty="0" err="1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pudimos</a:t>
            </a:r>
            <a:r>
              <a:rPr lang="en-US" sz="2200" dirty="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200" dirty="0" err="1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evitar</a:t>
            </a:r>
            <a:r>
              <a:rPr lang="en-US" sz="2200" dirty="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200" dirty="0" err="1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errores</a:t>
            </a:r>
            <a:r>
              <a:rPr lang="en-US" sz="2200" dirty="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200" dirty="0" err="1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que</a:t>
            </a:r>
            <a:r>
              <a:rPr lang="en-US" sz="2200" dirty="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200" dirty="0" err="1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finalizarían</a:t>
            </a:r>
            <a:r>
              <a:rPr lang="en-US" sz="2200" dirty="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 con el </a:t>
            </a:r>
            <a:r>
              <a:rPr lang="en-US" sz="2200" dirty="0" err="1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funcionamiento</a:t>
            </a:r>
            <a:r>
              <a:rPr lang="en-US" sz="2200" dirty="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 de </a:t>
            </a:r>
            <a:r>
              <a:rPr lang="en-US" sz="2200" dirty="0" err="1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nuestro</a:t>
            </a:r>
            <a:r>
              <a:rPr lang="en-US" sz="2200" dirty="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200" dirty="0" err="1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programa</a:t>
            </a:r>
            <a:r>
              <a:rPr lang="en-US" sz="2200" dirty="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, </a:t>
            </a:r>
            <a:r>
              <a:rPr lang="en-US" sz="2200" dirty="0" err="1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como</a:t>
            </a:r>
            <a:r>
              <a:rPr lang="en-US" sz="2200" dirty="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200" dirty="0" err="1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por</a:t>
            </a:r>
            <a:r>
              <a:rPr lang="en-US" sz="2200" dirty="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200" dirty="0" err="1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ejemplo</a:t>
            </a:r>
            <a:r>
              <a:rPr lang="en-US" sz="2200" dirty="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:</a:t>
            </a:r>
            <a:endParaRPr lang="en-US" sz="2200" dirty="0">
              <a:solidFill>
                <a:srgbClr val="FF914D"/>
              </a:solidFill>
              <a:latin typeface="Courier Prime"/>
              <a:ea typeface="Courier Prime"/>
              <a:cs typeface="Courier Prime"/>
            </a:endParaRPr>
          </a:p>
        </p:txBody>
      </p:sp>
      <p:sp>
        <p:nvSpPr>
          <p:cNvPr id="7" name="Flecha: a la derecha 6">
            <a:extLst>
              <a:ext uri="{FF2B5EF4-FFF2-40B4-BE49-F238E27FC236}">
                <a16:creationId xmlns:a16="http://schemas.microsoft.com/office/drawing/2014/main" id="{DAA04EB0-27EE-93CA-91E8-089F02F51E7F}"/>
              </a:ext>
            </a:extLst>
          </p:cNvPr>
          <p:cNvSpPr/>
          <p:nvPr/>
        </p:nvSpPr>
        <p:spPr>
          <a:xfrm>
            <a:off x="9145361" y="5029880"/>
            <a:ext cx="3071812" cy="228600"/>
          </a:xfrm>
          <a:prstGeom prst="rightArrow">
            <a:avLst/>
          </a:prstGeom>
          <a:solidFill>
            <a:srgbClr val="ED7D3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Flecha: a la derecha 8">
            <a:extLst>
              <a:ext uri="{FF2B5EF4-FFF2-40B4-BE49-F238E27FC236}">
                <a16:creationId xmlns:a16="http://schemas.microsoft.com/office/drawing/2014/main" id="{294B6D8C-ABED-16C0-E39B-A5ACB56BE0DF}"/>
              </a:ext>
            </a:extLst>
          </p:cNvPr>
          <p:cNvSpPr/>
          <p:nvPr/>
        </p:nvSpPr>
        <p:spPr>
          <a:xfrm>
            <a:off x="9145361" y="8219394"/>
            <a:ext cx="3071812" cy="228600"/>
          </a:xfrm>
          <a:prstGeom prst="rightArrow">
            <a:avLst/>
          </a:prstGeom>
          <a:solidFill>
            <a:srgbClr val="ED7D3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A2EAC7E-F77D-A58A-56B4-7B84071CE6C4}"/>
              </a:ext>
            </a:extLst>
          </p:cNvPr>
          <p:cNvSpPr txBox="1"/>
          <p:nvPr/>
        </p:nvSpPr>
        <p:spPr>
          <a:xfrm>
            <a:off x="12962163" y="4813526"/>
            <a:ext cx="4371975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>
                <a:solidFill>
                  <a:schemeClr val="accent6">
                    <a:lumMod val="49000"/>
                  </a:schemeClr>
                </a:solidFill>
                <a:ea typeface="Calibri"/>
                <a:cs typeface="Calibri"/>
              </a:rPr>
              <a:t>POR SI EL USUARIO PASA A PONER LETRAS EN VEZ DE UN NÚMERO.</a:t>
            </a:r>
          </a:p>
        </p:txBody>
      </p:sp>
      <p:pic>
        <p:nvPicPr>
          <p:cNvPr id="13" name="Imagen 12" descr="Texto&#10;&#10;El contenido generado por IA puede ser incorrecto.">
            <a:extLst>
              <a:ext uri="{FF2B5EF4-FFF2-40B4-BE49-F238E27FC236}">
                <a16:creationId xmlns:a16="http://schemas.microsoft.com/office/drawing/2014/main" id="{0D6DAF77-08F6-A983-6CC7-549AA36A8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092" y="3938588"/>
            <a:ext cx="8296275" cy="2409825"/>
          </a:xfrm>
          <a:prstGeom prst="rect">
            <a:avLst/>
          </a:prstGeom>
        </p:spPr>
      </p:pic>
      <p:pic>
        <p:nvPicPr>
          <p:cNvPr id="14" name="Imagen 13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BBE06D3F-8549-BDEF-A43C-0B564A1E55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854" y="7758113"/>
            <a:ext cx="8286750" cy="1160689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EA5D6146-7607-78D9-EDC6-B52379FAED59}"/>
              </a:ext>
            </a:extLst>
          </p:cNvPr>
          <p:cNvSpPr txBox="1"/>
          <p:nvPr/>
        </p:nvSpPr>
        <p:spPr>
          <a:xfrm>
            <a:off x="12962163" y="8003040"/>
            <a:ext cx="4371975" cy="9233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dirty="0">
                <a:solidFill>
                  <a:schemeClr val="accent6">
                    <a:lumMod val="49000"/>
                  </a:schemeClr>
                </a:solidFill>
                <a:ea typeface="Calibri"/>
                <a:cs typeface="Calibri"/>
              </a:rPr>
              <a:t>ES POR SI LA MATRIZ DE LA IMAGEN VINO VACÍA PARA QUE NO FALLE AL INTENTAR </a:t>
            </a:r>
            <a:r>
              <a:rPr lang="es-ES">
                <a:solidFill>
                  <a:schemeClr val="accent6">
                    <a:lumMod val="49000"/>
                  </a:schemeClr>
                </a:solidFill>
                <a:ea typeface="Calibri"/>
                <a:cs typeface="Calibri"/>
              </a:rPr>
              <a:t>CONVERTIRLA</a:t>
            </a:r>
            <a:endParaRPr lang="es-E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424</Words>
  <Application>Microsoft Office PowerPoint</Application>
  <PresentationFormat>Personalizado</PresentationFormat>
  <Paragraphs>31</Paragraphs>
  <Slides>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6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Propuesta Técnica {</dc:title>
  <cp:lastModifiedBy>Victails ㅤ</cp:lastModifiedBy>
  <cp:revision>61</cp:revision>
  <dcterms:created xsi:type="dcterms:W3CDTF">2006-08-16T00:00:00Z</dcterms:created>
  <dcterms:modified xsi:type="dcterms:W3CDTF">2026-06-28T20:35:55Z</dcterms:modified>
  <dc:identifier>DAHNtIySKu4</dc:identifier>
</cp:coreProperties>
</file>